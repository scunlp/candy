
<file path=[Content_Types].xml><?xml version="1.0" encoding="utf-8"?>
<Types xmlns="http://schemas.openxmlformats.org/package/2006/content-types">
  <Default Extension="png" ContentType="image/png"/>
  <Default Extension="mp3" ContentType="audio/mp3"/>
  <Default Extension="m4a" ContentType="audi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7"/>
  </p:handoutMasterIdLst>
  <p:sldIdLst>
    <p:sldId id="256" r:id="rId3"/>
    <p:sldId id="259" r:id="rId5"/>
    <p:sldId id="261" r:id="rId6"/>
    <p:sldId id="263" r:id="rId7"/>
    <p:sldId id="262" r:id="rId8"/>
    <p:sldId id="267" r:id="rId9"/>
    <p:sldId id="260" r:id="rId10"/>
    <p:sldId id="268" r:id="rId11"/>
    <p:sldId id="269" r:id="rId12"/>
    <p:sldId id="271" r:id="rId13"/>
    <p:sldId id="272" r:id="rId14"/>
    <p:sldId id="264" r:id="rId15"/>
    <p:sldId id="273"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7"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C" initials="H" lastIdx="1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7"/>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Hello everyone. I’m Ruiling Guo from the School of Cyber Science and Engineering at Sichuan University in China. Today, I’ll present our paper, CANDY: Benchmarking LLMs</a:t>
            </a:r>
            <a:r>
              <a:rPr lang="zh-CN" altLang="en-US"/>
              <a:t>（</a:t>
            </a:r>
            <a:r>
              <a:rPr lang="en-US" altLang="zh-CN" dirty="0">
                <a:effectLst/>
                <a:sym typeface="+mn-ea"/>
              </a:rPr>
              <a:t> large language models</a:t>
            </a:r>
            <a:r>
              <a:rPr lang="zh-CN" altLang="en-US"/>
              <a:t>）</a:t>
            </a:r>
            <a:r>
              <a:rPr lang="en-US" altLang="zh-CN"/>
              <a:t>’ Limitations and Assistive Potential in Chinese Misinformation Fact-Checking.</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China’s digital ecosystem is enormous—and so is the volume of misinformation it produces. Relying on manual fact-checking alone is no longer feasible . At the same time, large language models are increasingly used for fact-checking, but their true effectiveness remains unclear, especially in Chinese contexts. In this work, our goal is straightforward: we systematically evaluate LLMs’ capabilities, identify their limitations, and clarify their practical roles in Chinese misinformation fact-checking.</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In the rest of the talk, I’ll first introduce our evaluation setup, then present key findings</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and finally discuss how these insights translate into actionable, assistive use of LLMs in practice.</a:t>
            </a:r>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1464DB0-CCE3-4363-801A-A01AADC6398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indent="0">
              <a:buFont typeface="Cambria Math" panose="02040503050406030204" pitchFamily="18" charset="0"/>
              <a:buNone/>
            </a:pPr>
            <a:r>
              <a:rPr lang="en-US" altLang="zh-CN" sz="1200" dirty="0">
                <a:latin typeface="Times New Roman" panose="02020603050405020304" charset="0"/>
                <a:cs typeface="Times New Roman" panose="02020603050405020304" charset="0"/>
              </a:rPr>
              <a:t>In this paper, we make the following contributions:</a:t>
            </a:r>
            <a:endParaRPr lang="en-US" altLang="zh-CN" sz="1200" dirty="0">
              <a:latin typeface="Times New Roman" panose="02020603050405020304" charset="0"/>
              <a:cs typeface="Times New Roman" panose="02020603050405020304" charset="0"/>
            </a:endParaRPr>
          </a:p>
          <a:p>
            <a:pPr indent="0">
              <a:buFont typeface="Cambria Math" panose="02040503050406030204" pitchFamily="18" charset="0"/>
              <a:buNone/>
            </a:pPr>
            <a:r>
              <a:rPr lang="en-US" altLang="zh-CN" sz="1200" dirty="0">
                <a:latin typeface="Times New Roman" panose="02020603050405020304" charset="0"/>
                <a:cs typeface="Times New Roman" panose="02020603050405020304" charset="0"/>
              </a:rPr>
              <a:t>First, we introduce CANDY—to our knowledge, the first benchmark that offers a comprehensive evaluation and deep analysis of how LLMs fact-check Chinese misinformation, and how usable they are in practice.</a:t>
            </a:r>
            <a:endParaRPr lang="en-US" altLang="zh-CN" sz="1200" dirty="0">
              <a:latin typeface="Times New Roman" panose="02020603050405020304" charset="0"/>
              <a:cs typeface="Times New Roman" panose="02020603050405020304" charset="0"/>
            </a:endParaRPr>
          </a:p>
          <a:p>
            <a:pPr indent="0">
              <a:buFont typeface="Cambria Math" panose="02040503050406030204" pitchFamily="18" charset="0"/>
              <a:buNone/>
            </a:pPr>
            <a:r>
              <a:rPr lang="en-US" altLang="zh-CN" sz="1200" dirty="0">
                <a:latin typeface="Times New Roman" panose="02020603050405020304" charset="0"/>
                <a:cs typeface="Times New Roman" panose="02020603050405020304" charset="0"/>
              </a:rPr>
              <a:t>At the core is CANDYSET, a large-scale Chinese dataset: about 20,000 raw instances, 5,000 carefully annotated LLM-generated explanations, and 7,000 human-study samples. This scale enables truly in-depth evaluation.</a:t>
            </a:r>
            <a:endParaRPr lang="en-US" altLang="zh-CN" sz="1200" dirty="0">
              <a:latin typeface="Times New Roman" panose="02020603050405020304" charset="0"/>
              <a:cs typeface="Times New Roman" panose="02020603050405020304" charset="0"/>
            </a:endParaRPr>
          </a:p>
          <a:p>
            <a:pPr indent="0">
              <a:buFont typeface="Cambria Math" panose="02040503050406030204" pitchFamily="18" charset="0"/>
              <a:buNone/>
            </a:pPr>
            <a:r>
              <a:rPr lang="en-US" altLang="zh-CN" sz="1200" dirty="0">
                <a:latin typeface="Times New Roman" panose="02020603050405020304" charset="0"/>
                <a:cs typeface="Times New Roman" panose="02020603050405020304" charset="0"/>
              </a:rPr>
              <a:t>We also propose a fine-grained taxonomy for flawed LLM explanations. This </a:t>
            </a:r>
            <a:r>
              <a:rPr lang="en-US" altLang="zh-CN" dirty="0">
                <a:latin typeface="Times New Roman" panose="02020603050405020304" charset="0"/>
                <a:cs typeface="Times New Roman" panose="02020603050405020304" charset="0"/>
                <a:sym typeface="+mn-ea"/>
              </a:rPr>
              <a:t>facilitates in-depth analysis of LLM deficiencies in factchecking misinformation.</a:t>
            </a:r>
            <a:endParaRPr lang="en-US" altLang="zh-CN" dirty="0">
              <a:latin typeface="Times New Roman" panose="02020603050405020304" charset="0"/>
              <a:cs typeface="Times New Roman" panose="02020603050405020304" charset="0"/>
            </a:endParaRPr>
          </a:p>
          <a:p>
            <a:pPr indent="0">
              <a:buFont typeface="Cambria Math" panose="02040503050406030204" pitchFamily="18" charset="0"/>
              <a:buNone/>
            </a:pPr>
            <a:r>
              <a:rPr lang="en-US" altLang="zh-CN" sz="1200" dirty="0">
                <a:latin typeface="Times New Roman" panose="02020603050405020304" charset="0"/>
                <a:cs typeface="Times New Roman" panose="02020603050405020304" charset="0"/>
              </a:rPr>
              <a:t>Using CANDY, we benchmark 16 LLMs (plus 3 lightweight retrieval models) across three progressive tasks. These experiments systematically reveal the capabilities, limitations, and practical roles of LLMs for real-world Chinese fact-checking—and provide actionable guidance for future research and deployment.</a:t>
            </a:r>
            <a:endParaRPr lang="en-US" altLang="zh-CN" sz="1200" dirty="0">
              <a:latin typeface="Times New Roman" panose="02020603050405020304" charset="0"/>
              <a:cs typeface="Times New Roman" panose="02020603050405020304" charset="0"/>
            </a:endParaRPr>
          </a:p>
        </p:txBody>
      </p:sp>
      <p:sp>
        <p:nvSpPr>
          <p:cNvPr id="4" name="灯片编号占位符 3"/>
          <p:cNvSpPr>
            <a:spLocks noGrp="1"/>
          </p:cNvSpPr>
          <p:nvPr>
            <p:ph type="sldNum" sz="quarter" idx="10"/>
          </p:nvPr>
        </p:nvSpPr>
        <p:spPr/>
        <p:txBody>
          <a:bodyPr/>
          <a:lstStyle/>
          <a:p>
            <a:fld id="{41464DB0-CCE3-4363-801A-A01AADC6398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i="0" kern="1200" dirty="0">
                <a:solidFill>
                  <a:schemeClr val="tx1"/>
                </a:solidFill>
                <a:effectLst/>
                <a:latin typeface="+mn-lt"/>
                <a:ea typeface="+mn-ea"/>
                <a:cs typeface="+mn-cs"/>
              </a:rPr>
              <a:t>First, we will present our detailed taxonomy for analyzing fact-checking explanations. Our analysis focuses on three critical dimensions of potential failures: Faithfulness Hallucination, Factuality Hallucination, and Reasoning Inadequacy.</a:t>
            </a:r>
            <a:endParaRPr lang="en-US" altLang="zh-CN" sz="1200" i="0" kern="1200" dirty="0">
              <a:solidFill>
                <a:schemeClr val="tx1"/>
              </a:solidFill>
              <a:effectLst/>
              <a:latin typeface="+mn-lt"/>
              <a:ea typeface="+mn-ea"/>
              <a:cs typeface="+mn-cs"/>
            </a:endParaRPr>
          </a:p>
          <a:p>
            <a:r>
              <a:rPr lang="en-US" altLang="zh-CN" sz="1200" i="0" kern="1200" dirty="0">
                <a:solidFill>
                  <a:schemeClr val="tx1"/>
                </a:solidFill>
                <a:effectLst/>
                <a:latin typeface="+mn-lt"/>
                <a:ea typeface="+mn-ea"/>
                <a:cs typeface="+mn-cs"/>
              </a:rPr>
              <a:t>Faithfulness Hallucination. This occurs when the LLM's explanation is unfaithful to the user input, or contains logical inconsistencies, questioning its meaningfulness. </a:t>
            </a:r>
            <a:endParaRPr lang="en-US" altLang="zh-CN" sz="1200" i="0" kern="1200" dirty="0">
              <a:solidFill>
                <a:schemeClr val="tx1"/>
              </a:solidFill>
              <a:effectLst/>
              <a:latin typeface="+mn-lt"/>
              <a:ea typeface="+mn-ea"/>
              <a:cs typeface="+mn-cs"/>
            </a:endParaRPr>
          </a:p>
          <a:p>
            <a:r>
              <a:rPr lang="en-US" altLang="zh-CN" sz="1200" i="0" kern="1200" dirty="0">
                <a:solidFill>
                  <a:schemeClr val="tx1"/>
                </a:solidFill>
                <a:effectLst/>
                <a:latin typeface="+mn-lt"/>
                <a:ea typeface="+mn-ea"/>
                <a:cs typeface="+mn-cs"/>
              </a:rPr>
              <a:t>Moving on to Factuality Hallucination, this refers to the LLM </a:t>
            </a:r>
            <a:r>
              <a:rPr lang="en-US" altLang="zh-CN" sz="1200" i="0" kern="1200" dirty="0">
                <a:solidFill>
                  <a:schemeClr val="tx1"/>
                </a:solidFill>
                <a:effectLst/>
                <a:latin typeface="+mn-lt"/>
                <a:ea typeface="+mn-ea"/>
                <a:cs typeface="+mn-cs"/>
              </a:rPr>
              <a:t>expressing reasons in a definitive tone that contradict real-world facts or are fabricated. Lastly, Reasoning Inadequacy, refers to the inability of an LLM to deliver high-quality and helpful reasoning when direct evidence is insufficient. We showcase data examples in the table and figure.</a:t>
            </a:r>
            <a:endParaRPr lang="zh-CN" altLang="en-US" sz="120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1464DB0-CCE3-4363-801A-A01AADC6398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i="0" kern="1200" dirty="0">
                <a:solidFill>
                  <a:schemeClr val="tx1"/>
                </a:solidFill>
                <a:effectLst/>
                <a:latin typeface="+mn-lt"/>
                <a:ea typeface="+mn-ea"/>
                <a:cs typeface="+mn-cs"/>
              </a:rPr>
              <a:t>Next, we introduce our proposed dataset. </a:t>
            </a:r>
            <a:r>
              <a:rPr lang="en-US" altLang="zh-CN" dirty="0">
                <a:effectLst/>
                <a:sym typeface="+mn-ea"/>
              </a:rPr>
              <a:t>Our dataset construction basically involves three steps: </a:t>
            </a:r>
            <a:r>
              <a:rPr lang="en-US" altLang="zh-CN" sz="1200" i="0" kern="1200" dirty="0">
                <a:solidFill>
                  <a:schemeClr val="tx1"/>
                </a:solidFill>
                <a:effectLst/>
                <a:latin typeface="+mn-lt"/>
                <a:ea typeface="+mn-ea"/>
                <a:cs typeface="+mn-cs"/>
              </a:rPr>
              <a:t>First, we collected multi-domain claims and evidence from authoritative Chinese fact-checking platforms.  Second, We first had each LLM generate explanations for its fact-checking decisions. Then, we manually compared these explanations  with the collected evidence  to identify  flaws.   </a:t>
            </a:r>
            <a:r>
              <a:rPr lang="en-US" altLang="zh-CN" dirty="0">
                <a:effectLst/>
                <a:sym typeface="+mn-ea"/>
              </a:rPr>
              <a:t>Lastly, our dataset undergoes a quality control procedure via</a:t>
            </a:r>
            <a:r>
              <a:rPr lang="en-US" altLang="zh-CN" sz="1200" i="0" kern="1200" dirty="0">
                <a:solidFill>
                  <a:schemeClr val="tx1"/>
                </a:solidFill>
                <a:effectLst/>
                <a:latin typeface="+mn-lt"/>
                <a:ea typeface="+mn-ea"/>
                <a:cs typeface="+mn-cs"/>
              </a:rPr>
              <a:t> two vetting layers: authoritative data sources and human annotation.  </a:t>
            </a:r>
            <a:endParaRPr lang="en-US" altLang="zh-CN" sz="120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1464DB0-CCE3-4363-801A-A01AADC6398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i="0" dirty="0"/>
              <a:t>In further fine-grained</a:t>
            </a:r>
            <a:r>
              <a:rPr lang="en-US" altLang="zh-CN" b="1" i="0" dirty="0"/>
              <a:t> </a:t>
            </a:r>
            <a:r>
              <a:rPr lang="en-US" altLang="zh-CN" i="0" dirty="0"/>
              <a:t>analysis we find that LLMs show different strengths and weaknesses across various domains. They perform well in knowledge-intensive areas like culture and politics, demonstrating a strong knowledge base and ability to extract features. However, LLMs struggle in time-sensitive domains such as society and disasters, where information changes rapidly.</a:t>
            </a:r>
            <a:endParaRPr lang="en-US" altLang="zh-CN" i="0" dirty="0"/>
          </a:p>
        </p:txBody>
      </p:sp>
      <p:sp>
        <p:nvSpPr>
          <p:cNvPr id="4" name="灯片编号占位符 3"/>
          <p:cNvSpPr>
            <a:spLocks noGrp="1"/>
          </p:cNvSpPr>
          <p:nvPr>
            <p:ph type="sldNum" sz="quarter" idx="10"/>
          </p:nvPr>
        </p:nvSpPr>
        <p:spPr/>
        <p:txBody>
          <a:bodyPr/>
          <a:lstStyle/>
          <a:p>
            <a:fld id="{41464DB0-CCE3-4363-801A-A01AADC6398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i="0" dirty="0"/>
              <a:t>We first set up a section aimed at evaluating the ability of LLMs to verify facts by assessing their performance in distinguishing factual statements from falsehoods. Basically, we find that Current LLMs, even when employing methods like CoT reasoning and few-shot</a:t>
            </a:r>
            <a:r>
              <a:rPr lang="en-US" altLang="zh-CN" i="0" dirty="0"/>
              <a:t> prompting, still struggle to accurately</a:t>
            </a:r>
            <a:r>
              <a:rPr lang="en-US" altLang="zh-CN" b="1" i="0" dirty="0"/>
              <a:t> </a:t>
            </a:r>
            <a:r>
              <a:rPr lang="en-US" altLang="zh-CN" i="0" dirty="0"/>
              <a:t>perform fact-checking tasks, particularly in contamination-free scenarios.</a:t>
            </a:r>
            <a:endParaRPr lang="en-US" altLang="zh-CN" i="0" dirty="0"/>
          </a:p>
        </p:txBody>
      </p:sp>
      <p:sp>
        <p:nvSpPr>
          <p:cNvPr id="4" name="灯片编号占位符 3"/>
          <p:cNvSpPr>
            <a:spLocks noGrp="1"/>
          </p:cNvSpPr>
          <p:nvPr>
            <p:ph type="sldNum" sz="quarter" idx="10"/>
          </p:nvPr>
        </p:nvSpPr>
        <p:spPr/>
        <p:txBody>
          <a:bodyPr/>
          <a:lstStyle/>
          <a:p>
            <a:fld id="{41464DB0-CCE3-4363-801A-A01AADC6398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i="0" dirty="0"/>
              <a:t>It can be seen that flawed fact-checking explanations persist across temporal scenarios, with factual hallucination being the predominant error type. The contamination-free evaluation reveals a 9% increase in factual hallucination, suggesting that LLMs are more inclined</a:t>
            </a:r>
            <a:r>
              <a:rPr lang="en-US" altLang="zh-CN" b="1" i="0" dirty="0"/>
              <a:t> </a:t>
            </a:r>
            <a:r>
              <a:rPr lang="en-US" altLang="zh-CN" i="0" dirty="0"/>
              <a:t>to generate </a:t>
            </a:r>
            <a:r>
              <a:rPr lang="en-US" altLang="zh-CN" i="0" dirty="0"/>
              <a:t>coherent text based on statistical patterns when lacking direct factual evidence, rather than acknowledging knowledge gaps. </a:t>
            </a:r>
            <a:endParaRPr lang="en-US" altLang="zh-CN" i="0" dirty="0"/>
          </a:p>
        </p:txBody>
      </p:sp>
      <p:sp>
        <p:nvSpPr>
          <p:cNvPr id="4" name="灯片编号占位符 3"/>
          <p:cNvSpPr>
            <a:spLocks noGrp="1"/>
          </p:cNvSpPr>
          <p:nvPr>
            <p:ph type="sldNum" sz="quarter" idx="10"/>
          </p:nvPr>
        </p:nvSpPr>
        <p:spPr/>
        <p:txBody>
          <a:bodyPr/>
          <a:lstStyle/>
          <a:p>
            <a:fld id="{41464DB0-CCE3-4363-801A-A01AADC6398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i="0" dirty="0"/>
              <a:t>Moreover, LLM-generated explanations are often contaminated by plausible-sounding misinformation, leading the LLM to incorrectly accept it as fact. we conducted a experiment and find that: Reformulating claims into</a:t>
            </a:r>
            <a:r>
              <a:rPr lang="en-US" altLang="zh-CN" i="0" dirty="0"/>
              <a:t> intergative expressions significantly reduces fabricated content, enhancing </a:t>
            </a:r>
            <a:r>
              <a:rPr lang="en-US" altLang="zh-CN" i="0" dirty="0"/>
              <a:t>authenticity. This suggests that the interrogative format encourages</a:t>
            </a:r>
            <a:r>
              <a:rPr lang="en-US" altLang="zh-CN" i="0" dirty="0"/>
              <a:t> exploration and analysis instead of </a:t>
            </a:r>
            <a:r>
              <a:rPr lang="en-US" altLang="zh-CN" i="0" dirty="0"/>
              <a:t>assertive claim alignment, highlighting the problem of LLMs pandering to misinformation.</a:t>
            </a:r>
            <a:endParaRPr lang="en-US" altLang="zh-CN" i="0" dirty="0"/>
          </a:p>
        </p:txBody>
      </p:sp>
      <p:sp>
        <p:nvSpPr>
          <p:cNvPr id="4" name="灯片编号占位符 3"/>
          <p:cNvSpPr>
            <a:spLocks noGrp="1"/>
          </p:cNvSpPr>
          <p:nvPr>
            <p:ph type="sldNum" sz="quarter" idx="10"/>
          </p:nvPr>
        </p:nvSpPr>
        <p:spPr/>
        <p:txBody>
          <a:bodyPr/>
          <a:lstStyle/>
          <a:p>
            <a:fld id="{41464DB0-CCE3-4363-801A-A01AADC6398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i="0" dirty="0"/>
              <a:t>An additional finding is that:The limited temporal awareness of LLMs </a:t>
            </a:r>
            <a:r>
              <a:rPr lang="en-US" altLang="zh-CN" i="0" dirty="0"/>
              <a:t>significantly undermines their fact-checking accuracy. This table outlines three key scenarios: LLMs outputting outdated or vague responses, and the model often failing to state—or even know—its own knowledge cutoff.</a:t>
            </a:r>
            <a:endParaRPr lang="en-US" altLang="zh-CN" i="0" dirty="0"/>
          </a:p>
        </p:txBody>
      </p:sp>
      <p:sp>
        <p:nvSpPr>
          <p:cNvPr id="4" name="灯片编号占位符 3"/>
          <p:cNvSpPr>
            <a:spLocks noGrp="1"/>
          </p:cNvSpPr>
          <p:nvPr>
            <p:ph type="sldNum" sz="quarter" idx="10"/>
          </p:nvPr>
        </p:nvSpPr>
        <p:spPr/>
        <p:txBody>
          <a:bodyPr/>
          <a:lstStyle/>
          <a:p>
            <a:fld id="{41464DB0-CCE3-4363-801A-A01AADC6398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i="0" dirty="0"/>
              <a:t>Based on the results of Tasks 1 and 2, current LLMs do not appear to be suitable for fully automated fact-checking without human oversight. To further investigate the potential of LLMs in real-world scenarios, this section presents a human study designed to evaluate their ability to assist humans. As illustrated in Table , “Human + LLM” </a:t>
            </a:r>
            <a:r>
              <a:rPr lang="en-US" altLang="zh-CN" i="0" dirty="0"/>
              <a:t>consistently outperforms “Human + Web” across all groups, likely due to LLMs providing clearer, context-aware guidance over</a:t>
            </a:r>
            <a:r>
              <a:rPr lang="en-US" altLang="zh-CN" i="0" dirty="0"/>
              <a:t> fragmented web content. Notably, the performance comparison between “Human” and “Human + LLM” demonstrates that LLM assistance </a:t>
            </a:r>
            <a:r>
              <a:rPr lang="en-US" altLang="zh-CN" i="0" dirty="0"/>
              <a:t>enhances fact-checking accuracy across all education levels. These results underscore an important shift in perspective: while LLMs may struggle with </a:t>
            </a:r>
            <a:r>
              <a:rPr lang="en-US" altLang="zh-CN" i="0" dirty="0"/>
              <a:t>autonomous fact-checking, they serve as highly effective collaborative tools that enhance human judgment. </a:t>
            </a:r>
            <a:endParaRPr lang="en-US" altLang="zh-CN" i="0" dirty="0"/>
          </a:p>
        </p:txBody>
      </p:sp>
      <p:sp>
        <p:nvSpPr>
          <p:cNvPr id="4" name="灯片编号占位符 3"/>
          <p:cNvSpPr>
            <a:spLocks noGrp="1"/>
          </p:cNvSpPr>
          <p:nvPr>
            <p:ph type="sldNum" sz="quarter" idx="10"/>
          </p:nvPr>
        </p:nvSpPr>
        <p:spPr/>
        <p:txBody>
          <a:bodyPr/>
          <a:lstStyle/>
          <a:p>
            <a:fld id="{41464DB0-CCE3-4363-801A-A01AADC6398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a:buNone/>
            </a:pPr>
            <a:r>
              <a:rPr lang="en-US" altLang="zh-CN" dirty="0">
                <a:latin typeface="Times New Roman" panose="02020603050405020304" charset="0"/>
                <a:cs typeface="Times New Roman" panose="02020603050405020304" charset="0"/>
                <a:sym typeface="+mn-ea"/>
              </a:rPr>
              <a:t>This work investigates LLMs’ deficiencies in fact-checking real-world misinformation and offers three key contributions:</a:t>
            </a:r>
            <a:endParaRPr lang="en-US" altLang="zh-CN" dirty="0">
              <a:latin typeface="Times New Roman" panose="02020603050405020304" charset="0"/>
              <a:cs typeface="Times New Roman" panose="02020603050405020304" charset="0"/>
            </a:endParaRPr>
          </a:p>
          <a:p>
            <a:pPr indent="0">
              <a:buFont typeface="Arial" panose="020B0604020202020204" pitchFamily="34" charset="0"/>
              <a:buNone/>
            </a:pPr>
            <a:r>
              <a:rPr lang="en-US" altLang="zh-CN" dirty="0">
                <a:latin typeface="Times New Roman" panose="02020603050405020304" charset="0"/>
                <a:cs typeface="Times New Roman" panose="02020603050405020304" charset="0"/>
                <a:sym typeface="+mn-ea"/>
              </a:rPr>
              <a:t>1.The introduction of CANDY, a novel benchmark tailored for this task.</a:t>
            </a:r>
            <a:endParaRPr lang="en-US" altLang="zh-CN" dirty="0">
              <a:latin typeface="Times New Roman" panose="02020603050405020304" charset="0"/>
              <a:cs typeface="Times New Roman" panose="02020603050405020304" charset="0"/>
            </a:endParaRPr>
          </a:p>
          <a:p>
            <a:pPr>
              <a:buNone/>
            </a:pPr>
            <a:r>
              <a:rPr lang="en-US" altLang="zh-CN" dirty="0">
                <a:latin typeface="Times New Roman" panose="02020603050405020304" charset="0"/>
                <a:cs typeface="Times New Roman" panose="02020603050405020304" charset="0"/>
                <a:sym typeface="+mn-ea"/>
              </a:rPr>
              <a:t>2.The creation of a large-scale CANDYSET dataset.</a:t>
            </a:r>
            <a:endParaRPr lang="en-US" altLang="zh-CN" dirty="0">
              <a:latin typeface="Times New Roman" panose="02020603050405020304" charset="0"/>
              <a:cs typeface="Times New Roman" panose="02020603050405020304" charset="0"/>
            </a:endParaRPr>
          </a:p>
          <a:p>
            <a:pPr>
              <a:buNone/>
            </a:pPr>
            <a:r>
              <a:rPr lang="en-US" altLang="zh-CN" dirty="0">
                <a:latin typeface="Times New Roman" panose="02020603050405020304" charset="0"/>
                <a:cs typeface="Times New Roman" panose="02020603050405020304" charset="0"/>
                <a:sym typeface="+mn-ea"/>
              </a:rPr>
              <a:t>3.A comprehensive benchmark of sixteen LLMs and three LRMs.</a:t>
            </a:r>
            <a:endParaRPr lang="en-US" altLang="zh-CN" dirty="0">
              <a:latin typeface="Times New Roman" panose="02020603050405020304" charset="0"/>
              <a:cs typeface="Times New Roman" panose="02020603050405020304" charset="0"/>
            </a:endParaRPr>
          </a:p>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1464DB0-CCE3-4363-801A-A01AADC6398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dirty="0">
                <a:effectLst/>
                <a:sym typeface="+mn-ea"/>
              </a:rPr>
              <a:t>So, that is all for todays slides. We invite you to read our paper and use our dataset for a more comprehensive understanding. </a:t>
            </a:r>
            <a:r>
              <a:rPr lang="en-US" altLang="zh-CN">
                <a:effectLst/>
                <a:sym typeface="+mn-ea"/>
              </a:rPr>
              <a:t>Thank you</a:t>
            </a:r>
            <a:endParaRPr lang="zh-CN" altLang="en-US" dirty="0"/>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7" name="矩形 6"/>
          <p:cNvSpPr/>
          <p:nvPr userDrawn="1"/>
        </p:nvSpPr>
        <p:spPr>
          <a:xfrm>
            <a:off x="441315" y="404666"/>
            <a:ext cx="398101" cy="3774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8" name="矩形 7"/>
          <p:cNvSpPr/>
          <p:nvPr userDrawn="1"/>
        </p:nvSpPr>
        <p:spPr>
          <a:xfrm>
            <a:off x="119326" y="135275"/>
            <a:ext cx="321989" cy="26939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xml"/><Relationship Id="rId7" Type="http://schemas.openxmlformats.org/officeDocument/2006/relationships/tags" Target="../tags/tag64.xml"/><Relationship Id="rId6" Type="http://schemas.openxmlformats.org/officeDocument/2006/relationships/image" Target="../media/image3.png"/><Relationship Id="rId5" Type="http://schemas.microsoft.com/office/2007/relationships/media" Target="../media/media1.mp3"/><Relationship Id="rId4" Type="http://schemas.openxmlformats.org/officeDocument/2006/relationships/audio" Target="../media/media1.mp3"/><Relationship Id="rId3" Type="http://schemas.openxmlformats.org/officeDocument/2006/relationships/image" Target="../media/image2.png"/><Relationship Id="rId2" Type="http://schemas.openxmlformats.org/officeDocument/2006/relationships/tags" Target="../tags/tag6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3.png"/><Relationship Id="rId2" Type="http://schemas.microsoft.com/office/2007/relationships/media" Target="../media/media2.mp3"/><Relationship Id="rId1" Type="http://schemas.openxmlformats.org/officeDocument/2006/relationships/audio" Target="../media/media2.mp3"/></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image" Target="../media/image3.png"/><Relationship Id="rId2" Type="http://schemas.microsoft.com/office/2007/relationships/media" Target="../media/media3.m4a"/><Relationship Id="rId1" Type="http://schemas.openxmlformats.org/officeDocument/2006/relationships/audio" Target="../media/media3.m4a"/></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2.xml"/><Relationship Id="rId5" Type="http://schemas.openxmlformats.org/officeDocument/2006/relationships/image" Target="../media/image3.png"/><Relationship Id="rId4" Type="http://schemas.microsoft.com/office/2007/relationships/media" Target="../media/media4.mp3"/><Relationship Id="rId3" Type="http://schemas.openxmlformats.org/officeDocument/2006/relationships/audio" Target="../media/media4.mp3"/><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image" Target="../media/image3.png"/><Relationship Id="rId5" Type="http://schemas.microsoft.com/office/2007/relationships/media" Target="../media/media5.mp3"/><Relationship Id="rId4" Type="http://schemas.openxmlformats.org/officeDocument/2006/relationships/audio" Target="../media/media5.mp3"/><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3.png"/><Relationship Id="rId5" Type="http://schemas.microsoft.com/office/2007/relationships/media" Target="../media/media6.mp3"/><Relationship Id="rId4" Type="http://schemas.openxmlformats.org/officeDocument/2006/relationships/audio" Target="../media/media6.mp3"/><Relationship Id="rId3" Type="http://schemas.openxmlformats.org/officeDocument/2006/relationships/image" Target="../media/image2.png"/><Relationship Id="rId2" Type="http://schemas.openxmlformats.org/officeDocument/2006/relationships/tags" Target="../tags/tag65.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2.xml"/><Relationship Id="rId4" Type="http://schemas.openxmlformats.org/officeDocument/2006/relationships/image" Target="../media/image3.png"/><Relationship Id="rId3" Type="http://schemas.microsoft.com/office/2007/relationships/media" Target="../media/media7.mp3"/><Relationship Id="rId2" Type="http://schemas.openxmlformats.org/officeDocument/2006/relationships/audio" Target="../media/media7.mp3"/><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2.xml"/><Relationship Id="rId4" Type="http://schemas.openxmlformats.org/officeDocument/2006/relationships/image" Target="../media/image3.png"/><Relationship Id="rId3" Type="http://schemas.microsoft.com/office/2007/relationships/media" Target="../media/media8.mp3"/><Relationship Id="rId2" Type="http://schemas.openxmlformats.org/officeDocument/2006/relationships/audio" Target="../media/media8.mp3"/><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image" Target="../media/image3.png"/><Relationship Id="rId3" Type="http://schemas.microsoft.com/office/2007/relationships/media" Target="../media/media9.mp3"/><Relationship Id="rId2" Type="http://schemas.openxmlformats.org/officeDocument/2006/relationships/audio" Target="../media/media9.mp3"/><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2.xml"/><Relationship Id="rId4" Type="http://schemas.openxmlformats.org/officeDocument/2006/relationships/image" Target="../media/image3.png"/><Relationship Id="rId3" Type="http://schemas.microsoft.com/office/2007/relationships/media" Target="../media/media10.mp3"/><Relationship Id="rId2" Type="http://schemas.openxmlformats.org/officeDocument/2006/relationships/audio" Target="../media/media10.mp3"/><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2.xml"/><Relationship Id="rId4" Type="http://schemas.openxmlformats.org/officeDocument/2006/relationships/image" Target="../media/image3.png"/><Relationship Id="rId3" Type="http://schemas.microsoft.com/office/2007/relationships/media" Target="../media/media11.mp3"/><Relationship Id="rId2" Type="http://schemas.openxmlformats.org/officeDocument/2006/relationships/audio" Target="../media/media11.mp3"/><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2.xml"/><Relationship Id="rId3" Type="http://schemas.openxmlformats.org/officeDocument/2006/relationships/image" Target="../media/image3.png"/><Relationship Id="rId2" Type="http://schemas.microsoft.com/office/2007/relationships/media" Target="../media/media12.mp3"/><Relationship Id="rId1" Type="http://schemas.openxmlformats.org/officeDocument/2006/relationships/audio" Target="../media/media12.mp3"/></Relationships>
</file>

<file path=ppt/slides/_rels/slide13.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image" Target="../media/image3.png"/><Relationship Id="rId7" Type="http://schemas.microsoft.com/office/2007/relationships/media" Target="../media/media13.mp3"/><Relationship Id="rId6" Type="http://schemas.openxmlformats.org/officeDocument/2006/relationships/audio" Target="../media/media13.mp3"/><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2.png"/><Relationship Id="rId2" Type="http://schemas.openxmlformats.org/officeDocument/2006/relationships/tags" Target="../tags/tag66.xml"/><Relationship Id="rId11" Type="http://schemas.openxmlformats.org/officeDocument/2006/relationships/notesSlide" Target="../notesSlides/notesSlide13.xml"/><Relationship Id="rId10"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a:blip r:embed="rId1"/>
          <a:stretch>
            <a:fillRect/>
          </a:stretch>
        </p:blipFill>
        <p:spPr>
          <a:xfrm>
            <a:off x="201295" y="285750"/>
            <a:ext cx="4058285" cy="744855"/>
          </a:xfrm>
          <a:prstGeom prst="rect">
            <a:avLst/>
          </a:prstGeom>
        </p:spPr>
      </p:pic>
      <p:pic>
        <p:nvPicPr>
          <p:cNvPr id="9" name="图片 8"/>
          <p:cNvPicPr>
            <a:picLocks noChangeAspect="1"/>
          </p:cNvPicPr>
          <p:nvPr>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9272821" y="254228"/>
            <a:ext cx="2688853" cy="776335"/>
          </a:xfrm>
          <a:prstGeom prst="rect">
            <a:avLst/>
          </a:prstGeom>
        </p:spPr>
      </p:pic>
      <p:sp>
        <p:nvSpPr>
          <p:cNvPr id="7" name="矩形 6"/>
          <p:cNvSpPr/>
          <p:nvPr/>
        </p:nvSpPr>
        <p:spPr>
          <a:xfrm>
            <a:off x="0" y="2500834"/>
            <a:ext cx="12192000" cy="11071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solidFill>
                  <a:prstClr val="white"/>
                </a:solidFill>
                <a:latin typeface="Times New Roman Regular" panose="02020503050405090304" charset="0"/>
                <a:cs typeface="Times New Roman Regular" panose="02020503050405090304" charset="0"/>
              </a:rPr>
              <a:t>CANDY: Benchmarking LLMs’ Limitations and Assistive Potential in</a:t>
            </a:r>
            <a:endParaRPr lang="en-US" altLang="zh-CN" sz="3200">
              <a:solidFill>
                <a:prstClr val="white"/>
              </a:solidFill>
              <a:latin typeface="Times New Roman Regular" panose="02020503050405090304" charset="0"/>
              <a:cs typeface="Times New Roman Regular" panose="02020503050405090304" charset="0"/>
            </a:endParaRPr>
          </a:p>
          <a:p>
            <a:pPr algn="ctr"/>
            <a:r>
              <a:rPr lang="en-US" altLang="zh-CN" sz="3200">
                <a:solidFill>
                  <a:prstClr val="white"/>
                </a:solidFill>
                <a:latin typeface="Times New Roman Regular" panose="02020503050405090304" charset="0"/>
                <a:cs typeface="Times New Roman Regular" panose="02020503050405090304" charset="0"/>
              </a:rPr>
              <a:t>Chinese Misinformation Fact-Checking</a:t>
            </a:r>
            <a:endParaRPr lang="en-US" altLang="zh-CN" sz="3200">
              <a:solidFill>
                <a:prstClr val="white"/>
              </a:solidFill>
              <a:latin typeface="Times New Roman Regular" panose="02020503050405090304" charset="0"/>
              <a:cs typeface="Times New Roman Regular" panose="02020503050405090304" charset="0"/>
            </a:endParaRPr>
          </a:p>
        </p:txBody>
      </p:sp>
      <p:sp>
        <p:nvSpPr>
          <p:cNvPr id="4" name="文本框 3"/>
          <p:cNvSpPr txBox="1"/>
          <p:nvPr/>
        </p:nvSpPr>
        <p:spPr>
          <a:xfrm>
            <a:off x="660400" y="3844925"/>
            <a:ext cx="10314940" cy="2030095"/>
          </a:xfrm>
          <a:prstGeom prst="rect">
            <a:avLst/>
          </a:prstGeom>
          <a:noFill/>
        </p:spPr>
        <p:txBody>
          <a:bodyPr wrap="square" rtlCol="0">
            <a:spAutoFit/>
          </a:bodyPr>
          <a:p>
            <a:pPr algn="ctr">
              <a:lnSpc>
                <a:spcPct val="150000"/>
              </a:lnSpc>
            </a:pPr>
            <a:r>
              <a:rPr lang="en-US" altLang="zh-CN" dirty="0">
                <a:latin typeface="Times New Roman" panose="02020603050405020304" charset="0"/>
                <a:cs typeface="Times New Roman" panose="02020603050405020304" charset="0"/>
                <a:sym typeface="+mn-ea"/>
              </a:rPr>
              <a:t>Ruiling Guo</a:t>
            </a:r>
            <a:r>
              <a:rPr lang="en-US" altLang="zh-CN" baseline="30000" dirty="0">
                <a:latin typeface="Times New Roman" panose="02020603050405020304" charset="0"/>
                <a:cs typeface="Times New Roman" panose="02020603050405020304" charset="0"/>
                <a:sym typeface="+mn-ea"/>
              </a:rPr>
              <a:t>1⋆</a:t>
            </a:r>
            <a:r>
              <a:rPr lang="en-US" altLang="zh-CN" dirty="0">
                <a:latin typeface="Times New Roman" panose="02020603050405020304" charset="0"/>
                <a:cs typeface="Times New Roman" panose="02020603050405020304" charset="0"/>
                <a:sym typeface="+mn-ea"/>
              </a:rPr>
              <a:t>  Xinwei Yang</a:t>
            </a:r>
            <a:r>
              <a:rPr lang="en-US" altLang="zh-CN" baseline="30000" dirty="0">
                <a:latin typeface="Times New Roman" panose="02020603050405020304" charset="0"/>
                <a:cs typeface="Times New Roman" panose="02020603050405020304" charset="0"/>
                <a:sym typeface="+mn-ea"/>
              </a:rPr>
              <a:t>2⋆</a:t>
            </a:r>
            <a:r>
              <a:rPr lang="en-US" altLang="zh-CN" dirty="0">
                <a:latin typeface="Times New Roman" panose="02020603050405020304" charset="0"/>
                <a:cs typeface="Times New Roman" panose="02020603050405020304" charset="0"/>
                <a:sym typeface="+mn-ea"/>
              </a:rPr>
              <a:t>  Chen Huang</a:t>
            </a:r>
            <a:r>
              <a:rPr lang="en-US" altLang="zh-CN" baseline="30000" dirty="0">
                <a:latin typeface="Times New Roman" panose="02020603050405020304" charset="0"/>
                <a:cs typeface="Times New Roman" panose="02020603050405020304" charset="0"/>
                <a:sym typeface="+mn-ea"/>
              </a:rPr>
              <a:t>23</a:t>
            </a:r>
            <a:r>
              <a:rPr lang="zh-CN" altLang="en-US" baseline="30000" dirty="0">
                <a:latin typeface="Times New Roman" panose="02020603050405020304" charset="0"/>
                <a:cs typeface="Times New Roman" panose="02020603050405020304" charset="0"/>
                <a:sym typeface="+mn-ea"/>
              </a:rPr>
              <a:t>♢</a:t>
            </a:r>
            <a:r>
              <a:rPr lang="en-US" altLang="zh-CN" dirty="0">
                <a:latin typeface="Times New Roman" panose="02020603050405020304" charset="0"/>
                <a:cs typeface="Times New Roman" panose="02020603050405020304" charset="0"/>
                <a:sym typeface="+mn-ea"/>
              </a:rPr>
              <a:t>  Tong Zhang</a:t>
            </a:r>
            <a:r>
              <a:rPr lang="en-US" altLang="zh-CN" baseline="30000" dirty="0">
                <a:latin typeface="Times New Roman" panose="02020603050405020304" charset="0"/>
                <a:cs typeface="Times New Roman" panose="02020603050405020304" charset="0"/>
                <a:sym typeface="+mn-ea"/>
              </a:rPr>
              <a:t>2</a:t>
            </a:r>
            <a:r>
              <a:rPr lang="en-US" altLang="zh-CN" dirty="0">
                <a:latin typeface="Times New Roman" panose="02020603050405020304" charset="0"/>
                <a:cs typeface="Times New Roman" panose="02020603050405020304" charset="0"/>
                <a:sym typeface="+mn-ea"/>
              </a:rPr>
              <a:t>   YongHu</a:t>
            </a:r>
            <a:r>
              <a:rPr lang="en-US" altLang="zh-CN" baseline="30000" dirty="0">
                <a:latin typeface="Times New Roman" panose="02020603050405020304" charset="0"/>
                <a:cs typeface="Times New Roman" panose="02020603050405020304" charset="0"/>
                <a:sym typeface="+mn-ea"/>
              </a:rPr>
              <a:t>1†</a:t>
            </a:r>
            <a:endParaRPr lang="en-US" altLang="zh-CN" dirty="0">
              <a:latin typeface="Times New Roman" panose="02020603050405020304" charset="0"/>
              <a:cs typeface="Times New Roman" panose="02020603050405020304" charset="0"/>
            </a:endParaRPr>
          </a:p>
          <a:p>
            <a:pPr algn="ctr">
              <a:lnSpc>
                <a:spcPct val="150000"/>
              </a:lnSpc>
            </a:pPr>
            <a:r>
              <a:rPr lang="en-US" altLang="zh-CN" dirty="0">
                <a:latin typeface="Times New Roman" panose="02020603050405020304" charset="0"/>
                <a:cs typeface="Times New Roman" panose="02020603050405020304" charset="0"/>
                <a:sym typeface="+mn-ea"/>
              </a:rPr>
              <a:t> 1.School of Cyber Science and Engineering, Sichuan University, China</a:t>
            </a:r>
            <a:endParaRPr lang="en-US" altLang="zh-CN" dirty="0">
              <a:latin typeface="Times New Roman" panose="02020603050405020304" charset="0"/>
              <a:cs typeface="Times New Roman" panose="02020603050405020304" charset="0"/>
            </a:endParaRPr>
          </a:p>
          <a:p>
            <a:pPr algn="ctr">
              <a:lnSpc>
                <a:spcPct val="150000"/>
              </a:lnSpc>
            </a:pPr>
            <a:r>
              <a:rPr lang="en-US" altLang="zh-CN" dirty="0">
                <a:latin typeface="Times New Roman" panose="02020603050405020304" charset="0"/>
                <a:cs typeface="Times New Roman" panose="02020603050405020304" charset="0"/>
                <a:sym typeface="+mn-ea"/>
              </a:rPr>
              <a:t> 2.College of Computer Science, Sichuan University, China</a:t>
            </a:r>
            <a:endParaRPr lang="en-US" altLang="zh-CN" dirty="0">
              <a:latin typeface="Times New Roman" panose="02020603050405020304" charset="0"/>
              <a:cs typeface="Times New Roman" panose="02020603050405020304" charset="0"/>
            </a:endParaRPr>
          </a:p>
          <a:p>
            <a:pPr algn="ctr">
              <a:lnSpc>
                <a:spcPct val="150000"/>
              </a:lnSpc>
            </a:pPr>
            <a:r>
              <a:rPr lang="en-US" altLang="zh-CN" dirty="0">
                <a:latin typeface="Times New Roman" panose="02020603050405020304" charset="0"/>
                <a:cs typeface="Times New Roman" panose="02020603050405020304" charset="0"/>
                <a:sym typeface="+mn-ea"/>
              </a:rPr>
              <a:t> 3.Institute of Data Science, National University of Singapore, Singapore</a:t>
            </a:r>
            <a:endParaRPr lang="en-US" altLang="zh-CN" dirty="0">
              <a:latin typeface="Times New Roman" panose="02020603050405020304" charset="0"/>
              <a:cs typeface="Times New Roman" panose="02020603050405020304" charset="0"/>
            </a:endParaRPr>
          </a:p>
          <a:p>
            <a:endParaRPr lang="zh-CN" altLang="en-US"/>
          </a:p>
        </p:txBody>
      </p:sp>
      <p:pic>
        <p:nvPicPr>
          <p:cNvPr id="2" name="20251009_173157">
            <a:hlinkClick r:id="" action="ppaction://media"/>
          </p:cNvPr>
          <p:cNvPicPr/>
          <p:nvPr>
            <a:audioFile r:link="rId4"/>
            <p:extLst>
              <p:ext uri="{DAA4B4D4-6D71-4841-9C94-3DE7FCFB9230}">
                <p14:media xmlns:p14="http://schemas.microsoft.com/office/powerpoint/2010/main" r:embed="rId5"/>
              </p:ext>
            </p:extLst>
          </p:nvPr>
        </p:nvPicPr>
        <p:blipFill>
          <a:blip r:embed="rId6"/>
          <a:stretch>
            <a:fillRect/>
          </a:stretch>
        </p:blipFill>
        <p:spPr>
          <a:xfrm>
            <a:off x="11316970" y="6045835"/>
            <a:ext cx="309880" cy="309880"/>
          </a:xfrm>
          <a:prstGeom prst="rect">
            <a:avLst/>
          </a:prstGeom>
        </p:spPr>
      </p:pic>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2376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11424" y="285931"/>
            <a:ext cx="9505056" cy="583565"/>
          </a:xfrm>
          <a:prstGeom prst="rect">
            <a:avLst/>
          </a:prstGeom>
          <a:noFill/>
        </p:spPr>
        <p:txBody>
          <a:bodyPr wrap="square" rtlCol="0">
            <a:spAutoFit/>
          </a:bodyPr>
          <a:lstStyle/>
          <a:p>
            <a:r>
              <a:rPr lang="en-US" altLang="zh-CN" sz="3200" b="1" dirty="0">
                <a:solidFill>
                  <a:prstClr val="black"/>
                </a:solidFill>
                <a:latin typeface="Times New Roman" panose="02020603050405020304" charset="0"/>
                <a:cs typeface="Times New Roman" panose="02020603050405020304" charset="0"/>
              </a:rPr>
              <a:t>Background</a:t>
            </a:r>
            <a:endParaRPr lang="en-US" altLang="zh-CN" sz="3200" b="1" dirty="0">
              <a:solidFill>
                <a:prstClr val="black"/>
              </a:solidFill>
              <a:latin typeface="Times New Roman" panose="02020603050405020304" charset="0"/>
              <a:cs typeface="Times New Roman" panose="02020603050405020304" charset="0"/>
            </a:endParaRPr>
          </a:p>
        </p:txBody>
      </p:sp>
      <p:sp>
        <p:nvSpPr>
          <p:cNvPr id="3" name="Bullet"/>
          <p:cNvSpPr/>
          <p:nvPr/>
        </p:nvSpPr>
        <p:spPr>
          <a:xfrm>
            <a:off x="-34776" y="1284881"/>
            <a:ext cx="13495655" cy="9958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Autofit/>
          </a:bodyPr>
          <a:lstStyle/>
          <a:p>
            <a:pPr algn="ctr"/>
            <a:endParaRPr kumimoji="1" lang="en-US" altLang="zh-CN" sz="2800" b="1" dirty="0">
              <a:solidFill>
                <a:schemeClr val="tx1"/>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grpSp>
        <p:nvGrpSpPr>
          <p:cNvPr id="7" name="组合 6"/>
          <p:cNvGrpSpPr/>
          <p:nvPr/>
        </p:nvGrpSpPr>
        <p:grpSpPr>
          <a:xfrm>
            <a:off x="400261" y="2037080"/>
            <a:ext cx="11391264" cy="3272155"/>
            <a:chOff x="1636965" y="13039606"/>
            <a:chExt cx="3453712" cy="3271918"/>
          </a:xfrm>
        </p:grpSpPr>
        <p:sp>
          <p:nvSpPr>
            <p:cNvPr id="8" name="矩形: 圆角 7"/>
            <p:cNvSpPr/>
            <p:nvPr/>
          </p:nvSpPr>
          <p:spPr>
            <a:xfrm>
              <a:off x="1636965" y="13039606"/>
              <a:ext cx="3453712" cy="3271918"/>
            </a:xfrm>
            <a:prstGeom prst="roundRect">
              <a:avLst>
                <a:gd name="adj" fmla="val 0"/>
              </a:avLst>
            </a:prstGeom>
            <a:solidFill>
              <a:schemeClr val="bg1"/>
            </a:solidFill>
            <a:ln w="19050">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9" name="文本框 8"/>
            <p:cNvSpPr txBox="1"/>
            <p:nvPr/>
          </p:nvSpPr>
          <p:spPr>
            <a:xfrm>
              <a:off x="1636965" y="13337206"/>
              <a:ext cx="3420149" cy="2676331"/>
            </a:xfrm>
            <a:prstGeom prst="rect">
              <a:avLst/>
            </a:prstGeom>
            <a:noFill/>
          </p:spPr>
          <p:txBody>
            <a:bodyPr wrap="square">
              <a:spAutoFit/>
            </a:bodyPr>
            <a:lstStyle/>
            <a:p>
              <a:pPr marL="457200" indent="-457200">
                <a:buFont typeface="Cambria Math" panose="02040503050406030204" pitchFamily="18" charset="0"/>
                <a:buChar char="◉"/>
              </a:pPr>
              <a:r>
                <a:rPr lang="en-US" altLang="zh-CN" sz="2400" dirty="0">
                  <a:latin typeface="Times New Roman" panose="02020603050405020304" charset="0"/>
                  <a:cs typeface="Times New Roman" panose="02020603050405020304" charset="0"/>
                </a:rPr>
                <a:t>China's vast digital ecosystem generates an overwhelming volume of</a:t>
              </a:r>
              <a:r>
                <a:rPr lang="en-US" altLang="zh-CN" sz="2400" b="1" dirty="0">
                  <a:latin typeface="Times New Roman" panose="02020603050405020304" charset="0"/>
                  <a:cs typeface="Times New Roman" panose="02020603050405020304" charset="0"/>
                </a:rPr>
                <a:t> misinformation,</a:t>
              </a:r>
              <a:r>
                <a:rPr lang="en-US" altLang="zh-CN" sz="2400" dirty="0">
                  <a:latin typeface="Times New Roman" panose="02020603050405020304" charset="0"/>
                  <a:cs typeface="Times New Roman" panose="02020603050405020304" charset="0"/>
                </a:rPr>
                <a:t> making manual fact-checking insufficient and unsustainable.</a:t>
              </a:r>
              <a:endParaRPr lang="en-US" altLang="zh-CN" sz="2400" dirty="0">
                <a:latin typeface="Times New Roman" panose="02020603050405020304" charset="0"/>
                <a:cs typeface="Times New Roman" panose="02020603050405020304" charset="0"/>
              </a:endParaRPr>
            </a:p>
            <a:p>
              <a:pPr marL="457200" indent="-457200">
                <a:buFont typeface="Cambria Math" panose="02040503050406030204" pitchFamily="18" charset="0"/>
                <a:buChar char="◉"/>
              </a:pPr>
              <a:r>
                <a:rPr lang="en-US" altLang="zh-CN" sz="2400" dirty="0">
                  <a:latin typeface="Times New Roman" panose="02020603050405020304" charset="0"/>
                  <a:cs typeface="Times New Roman" panose="02020603050405020304" charset="0"/>
                </a:rPr>
                <a:t>The effectiveness of  LLMs to fact-check misinformation remains uncertain, despite their growing use.</a:t>
              </a:r>
              <a:endParaRPr lang="en-US" altLang="zh-CN" sz="2400" dirty="0">
                <a:latin typeface="Times New Roman" panose="02020603050405020304" charset="0"/>
                <a:cs typeface="Times New Roman" panose="02020603050405020304" charset="0"/>
              </a:endParaRPr>
            </a:p>
            <a:p>
              <a:pPr marL="457200" indent="-457200">
                <a:buFont typeface="Cambria Math" panose="02040503050406030204" pitchFamily="18" charset="0"/>
                <a:buChar char="◉"/>
              </a:pPr>
              <a:endParaRPr lang="en-US" altLang="zh-CN" sz="2400" dirty="0">
                <a:latin typeface="Times New Roman" panose="02020603050405020304" charset="0"/>
                <a:cs typeface="Times New Roman" panose="02020603050405020304" charset="0"/>
              </a:endParaRPr>
            </a:p>
            <a:p>
              <a:pPr marL="457200" indent="-457200">
                <a:buFont typeface="Cambria Math" panose="02040503050406030204" pitchFamily="18" charset="0"/>
                <a:buChar char="◉"/>
              </a:pPr>
              <a:r>
                <a:rPr lang="en-US" altLang="zh-CN" sz="2400" b="1" u="sng" dirty="0">
                  <a:latin typeface="Times New Roman" panose="02020603050405020304" charset="0"/>
                  <a:cs typeface="Times New Roman" panose="02020603050405020304" charset="0"/>
                </a:rPr>
                <a:t>Task</a:t>
              </a:r>
              <a:r>
                <a:rPr lang="en-US" altLang="zh-CN" sz="2400" u="sng" dirty="0">
                  <a:latin typeface="Times New Roman" panose="02020603050405020304" charset="0"/>
                  <a:cs typeface="Times New Roman" panose="02020603050405020304" charset="0"/>
                </a:rPr>
                <a:t>: systematically evaluate the capabilities, limitations, and practical roles of LLMs in fact checking Chinese misinformation.</a:t>
              </a:r>
              <a:endParaRPr lang="en-US" altLang="zh-CN" sz="2400" u="sng" dirty="0">
                <a:latin typeface="Times New Roman" panose="02020603050405020304" charset="0"/>
                <a:cs typeface="Times New Roman" panose="02020603050405020304" charset="0"/>
              </a:endParaRPr>
            </a:p>
          </p:txBody>
        </p:sp>
      </p:grpSp>
      <p:pic>
        <p:nvPicPr>
          <p:cNvPr id="2" name="20251009_175432">
            <a:hlinkClick r:id="" action="ppaction://media"/>
          </p:cNvPr>
          <p:cNvPicPr/>
          <p:nvPr>
            <a:audioFile r:link="rId1"/>
            <p:extLst>
              <p:ext uri="{DAA4B4D4-6D71-4841-9C94-3DE7FCFB9230}">
                <p14:media xmlns:p14="http://schemas.microsoft.com/office/powerpoint/2010/main" r:embed="rId2"/>
              </p:ext>
            </p:extLst>
          </p:nvPr>
        </p:nvPicPr>
        <p:blipFill>
          <a:blip r:embed="rId3"/>
          <a:stretch>
            <a:fillRect/>
          </a:stretch>
        </p:blipFill>
        <p:spPr>
          <a:xfrm>
            <a:off x="11680825" y="6234430"/>
            <a:ext cx="309880" cy="309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758"/>
    </mc:Choice>
    <mc:Fallback>
      <p:transition spd="slow" advTm="397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5745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p:cNvSpPr>
            <a:spLocks noChangeAspect="1"/>
          </p:cNvSpPr>
          <p:nvPr/>
        </p:nvSpPr>
        <p:spPr>
          <a:xfrm>
            <a:off x="839470" y="1649095"/>
            <a:ext cx="10513060" cy="4516120"/>
          </a:xfrm>
          <a:prstGeom prst="round2SameRect">
            <a:avLst>
              <a:gd name="adj1" fmla="val 0"/>
              <a:gd name="adj2" fmla="val 5000"/>
            </a:avLst>
          </a:prstGeom>
          <a:solidFill>
            <a:schemeClr val="bg1">
              <a:lumMod val="85000"/>
              <a:alpha val="15000"/>
            </a:schemeClr>
          </a:solidFill>
          <a:ln w="6055" cap="flat">
            <a:noFill/>
            <a:prstDash val="solid"/>
            <a:miter/>
          </a:ln>
        </p:spPr>
        <p:txBody>
          <a:bodyPr wrap="square" lIns="91440" tIns="45720" rIns="91440" bIns="45720" rtlCol="0" anchor="ctr" anchorCtr="0">
            <a:normAutofit/>
          </a:bodyPr>
          <a:lstStyle/>
          <a:p>
            <a:pPr algn="ctr">
              <a:lnSpc>
                <a:spcPct val="120000"/>
              </a:lnSpc>
            </a:pPr>
            <a:endParaRPr kumimoji="1" lang="en-US" altLang="zh-CN" sz="1200" dirty="0">
              <a:solidFill>
                <a:schemeClr val="tx1"/>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11" name="文本框 10"/>
          <p:cNvSpPr txBox="1"/>
          <p:nvPr/>
        </p:nvSpPr>
        <p:spPr>
          <a:xfrm>
            <a:off x="911225" y="287020"/>
            <a:ext cx="7144385" cy="583565"/>
          </a:xfrm>
          <a:prstGeom prst="rect">
            <a:avLst/>
          </a:prstGeom>
          <a:noFill/>
        </p:spPr>
        <p:txBody>
          <a:bodyPr wrap="square" rtlCol="0">
            <a:spAutoFit/>
          </a:bodyPr>
          <a:lstStyle/>
          <a:p>
            <a:r>
              <a:rPr lang="en-US" altLang="zh-CN" sz="3200" b="1" dirty="0">
                <a:solidFill>
                  <a:prstClr val="black"/>
                </a:solidFill>
                <a:latin typeface="Times New Roman" panose="02020603050405020304" charset="0"/>
                <a:cs typeface="Times New Roman" panose="02020603050405020304" charset="0"/>
              </a:rPr>
              <a:t>Contributions </a:t>
            </a:r>
            <a:endParaRPr lang="en-US" altLang="zh-CN" sz="3200" b="1" dirty="0">
              <a:solidFill>
                <a:prstClr val="black"/>
              </a:solidFill>
              <a:latin typeface="Times New Roman" panose="02020603050405020304" charset="0"/>
              <a:cs typeface="Times New Roman" panose="02020603050405020304" charset="0"/>
            </a:endParaRPr>
          </a:p>
        </p:txBody>
      </p:sp>
      <p:sp>
        <p:nvSpPr>
          <p:cNvPr id="19" name="文本框 18"/>
          <p:cNvSpPr txBox="1"/>
          <p:nvPr/>
        </p:nvSpPr>
        <p:spPr>
          <a:xfrm>
            <a:off x="1019436" y="1839445"/>
            <a:ext cx="10153128" cy="4154170"/>
          </a:xfrm>
          <a:prstGeom prst="rect">
            <a:avLst/>
          </a:prstGeom>
          <a:noFill/>
        </p:spPr>
        <p:txBody>
          <a:bodyPr wrap="square">
            <a:spAutoFit/>
          </a:bodyPr>
          <a:lstStyle/>
          <a:p>
            <a:pPr marL="457200" indent="-457200">
              <a:buFont typeface="Cambria Math" panose="02040503050406030204" pitchFamily="18" charset="0"/>
              <a:buChar char="◉"/>
            </a:pPr>
            <a:r>
              <a:rPr lang="en-US" altLang="zh-CN" sz="2200" dirty="0">
                <a:latin typeface="Times New Roman" panose="02020603050405020304" charset="0"/>
                <a:cs typeface="Times New Roman" panose="02020603050405020304" charset="0"/>
              </a:rPr>
              <a:t>We propose CANDY, the first benchmark provides a comprehensive evaluation and in-depth analysis of LLMs’ ability to fact-check Chinese misinformation, as well as their applicability in practice.</a:t>
            </a:r>
            <a:endParaRPr lang="en-US" altLang="zh-CN" sz="2200" dirty="0">
              <a:latin typeface="Times New Roman" panose="02020603050405020304" charset="0"/>
              <a:cs typeface="Times New Roman" panose="02020603050405020304" charset="0"/>
            </a:endParaRPr>
          </a:p>
          <a:p>
            <a:pPr marL="457200" indent="-457200">
              <a:buFont typeface="Cambria Math" panose="02040503050406030204" pitchFamily="18" charset="0"/>
              <a:buChar char="◉"/>
            </a:pPr>
            <a:r>
              <a:rPr lang="en-US" altLang="zh-CN" sz="2200" dirty="0">
                <a:latin typeface="Times New Roman" panose="02020603050405020304" charset="0"/>
                <a:cs typeface="Times New Roman" panose="02020603050405020304" charset="0"/>
              </a:rPr>
              <a:t> We introduce CANDYSET, a Chinese large-scale dataset. It comprises ~20k raw instances, ~5k carefully annotated LLM-generated explanations, and ~7k human study samples. This enables indepth evaluation.</a:t>
            </a:r>
            <a:endParaRPr lang="en-US" altLang="zh-CN" sz="2200" dirty="0">
              <a:latin typeface="Times New Roman" panose="02020603050405020304" charset="0"/>
              <a:cs typeface="Times New Roman" panose="02020603050405020304" charset="0"/>
            </a:endParaRPr>
          </a:p>
          <a:p>
            <a:pPr marL="457200" indent="-457200">
              <a:buFont typeface="Cambria Math" panose="02040503050406030204" pitchFamily="18" charset="0"/>
              <a:buChar char="◉"/>
            </a:pPr>
            <a:r>
              <a:rPr lang="en-US" altLang="zh-CN" sz="2200" dirty="0">
                <a:latin typeface="Times New Roman" panose="02020603050405020304" charset="0"/>
                <a:cs typeface="Times New Roman" panose="02020603050405020304" charset="0"/>
              </a:rPr>
              <a:t>We introduce a fine-grained taxonomy for categorizing flawed LLM explanations, facilitating in-depth analysis of LLM deficiencies in factchecking misinformation.</a:t>
            </a:r>
            <a:endParaRPr lang="en-US" altLang="zh-CN" sz="2200" dirty="0">
              <a:latin typeface="Times New Roman" panose="02020603050405020304" charset="0"/>
              <a:cs typeface="Times New Roman" panose="02020603050405020304" charset="0"/>
            </a:endParaRPr>
          </a:p>
          <a:p>
            <a:pPr marL="457200" indent="-457200">
              <a:buFont typeface="Cambria Math" panose="02040503050406030204" pitchFamily="18" charset="0"/>
              <a:buChar char="◉"/>
            </a:pPr>
            <a:r>
              <a:rPr lang="en-US" altLang="zh-CN" sz="2200" dirty="0">
                <a:latin typeface="Times New Roman" panose="02020603050405020304" charset="0"/>
                <a:cs typeface="Times New Roman" panose="02020603050405020304" charset="0"/>
              </a:rPr>
              <a:t>With CANDY, we experimentally benchmark sixteen LLMs (and three LRMs) using three progressive tasks to systematically evaluate the capabilities, limitations, and practical roles of LLMs in fact-checking real-world Chinese misinformation</a:t>
            </a:r>
            <a:r>
              <a:rPr lang="zh-CN" altLang="en-US" sz="2200" dirty="0">
                <a:latin typeface="Times New Roman" panose="02020603050405020304" charset="0"/>
                <a:cs typeface="Times New Roman" panose="02020603050405020304" charset="0"/>
              </a:rPr>
              <a:t>，</a:t>
            </a:r>
            <a:r>
              <a:rPr lang="en-US" altLang="zh-CN" sz="2200" dirty="0">
                <a:latin typeface="Times New Roman" panose="02020603050405020304" charset="0"/>
                <a:cs typeface="Times New Roman" panose="02020603050405020304" charset="0"/>
              </a:rPr>
              <a:t> offering practical guidance for future study.</a:t>
            </a:r>
            <a:endParaRPr lang="zh-CN" altLang="en-US" sz="2200" dirty="0">
              <a:latin typeface="Times New Roman" panose="02020603050405020304" charset="0"/>
              <a:cs typeface="Times New Roman" panose="02020603050405020304" charset="0"/>
            </a:endParaRPr>
          </a:p>
        </p:txBody>
      </p:sp>
      <p:sp>
        <p:nvSpPr>
          <p:cNvPr id="35" name="Bullet"/>
          <p:cNvSpPr>
            <a:spLocks noChangeAspect="1"/>
          </p:cNvSpPr>
          <p:nvPr/>
        </p:nvSpPr>
        <p:spPr>
          <a:xfrm>
            <a:off x="839416" y="1060913"/>
            <a:ext cx="10513168" cy="588331"/>
          </a:xfrm>
          <a:prstGeom prst="round2SameRect">
            <a:avLst>
              <a:gd name="adj1" fmla="val 2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rmAutofit fontScale="72500"/>
          </a:bodyPr>
          <a:lstStyle/>
          <a:p>
            <a:pPr algn="ctr"/>
            <a:r>
              <a:rPr kumimoji="1" lang="en-US" altLang="zh-CN" sz="2800" b="1" dirty="0">
                <a:solidFill>
                  <a:srgbClr val="FFFFFF"/>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Contributions</a:t>
            </a:r>
            <a:endParaRPr kumimoji="1" lang="en-US" altLang="zh-CN" sz="2800" b="1" dirty="0">
              <a:solidFill>
                <a:srgbClr val="FFFFFF"/>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pic>
        <p:nvPicPr>
          <p:cNvPr id="3" name="contribution">
            <a:hlinkClick r:id="" action="ppaction://media"/>
          </p:cNvPr>
          <p:cNvPicPr/>
          <p:nvPr>
            <a:audioFile r:link="rId1"/>
            <p:extLst>
              <p:ext uri="{DAA4B4D4-6D71-4841-9C94-3DE7FCFB9230}">
                <p14:media xmlns:p14="http://schemas.microsoft.com/office/powerpoint/2010/main" r:embed="rId2"/>
              </p:ext>
            </p:extLst>
          </p:nvPr>
        </p:nvPicPr>
        <p:blipFill>
          <a:blip r:embed="rId3"/>
          <a:stretch>
            <a:fillRect/>
          </a:stretch>
        </p:blipFill>
        <p:spPr>
          <a:xfrm>
            <a:off x="11042650" y="6356985"/>
            <a:ext cx="309880" cy="3098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5451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11225" y="287020"/>
            <a:ext cx="7560945" cy="583565"/>
          </a:xfrm>
          <a:prstGeom prst="rect">
            <a:avLst/>
          </a:prstGeom>
          <a:noFill/>
        </p:spPr>
        <p:txBody>
          <a:bodyPr wrap="square" rtlCol="0">
            <a:spAutoFit/>
          </a:bodyPr>
          <a:lstStyle/>
          <a:p>
            <a:r>
              <a:rPr lang="en-US" altLang="zh-CN" sz="3200" b="1" dirty="0">
                <a:solidFill>
                  <a:prstClr val="black"/>
                </a:solidFill>
                <a:latin typeface="Times New Roman" panose="02020603050405020304" charset="0"/>
                <a:cs typeface="Times New Roman" panose="02020603050405020304" charset="0"/>
              </a:rPr>
              <a:t>Taxonomy</a:t>
            </a:r>
            <a:endParaRPr lang="en-US" altLang="zh-CN" sz="3200" b="1" dirty="0">
              <a:solidFill>
                <a:prstClr val="black"/>
              </a:solidFill>
              <a:latin typeface="Times New Roman" panose="02020603050405020304" charset="0"/>
              <a:cs typeface="Times New Roman" panose="02020603050405020304" charset="0"/>
            </a:endParaRPr>
          </a:p>
        </p:txBody>
      </p:sp>
      <p:grpSp>
        <p:nvGrpSpPr>
          <p:cNvPr id="14" name="组合 13"/>
          <p:cNvGrpSpPr/>
          <p:nvPr/>
        </p:nvGrpSpPr>
        <p:grpSpPr>
          <a:xfrm>
            <a:off x="911225" y="861695"/>
            <a:ext cx="3618865" cy="5847715"/>
            <a:chOff x="1435" y="1642"/>
            <a:chExt cx="5064" cy="8323"/>
          </a:xfrm>
        </p:grpSpPr>
        <p:pic>
          <p:nvPicPr>
            <p:cNvPr id="5" name="图片 4"/>
            <p:cNvPicPr>
              <a:picLocks noChangeAspect="1"/>
            </p:cNvPicPr>
            <p:nvPr/>
          </p:nvPicPr>
          <p:blipFill>
            <a:blip r:embed="rId1"/>
            <a:srcRect b="57748"/>
            <a:stretch>
              <a:fillRect/>
            </a:stretch>
          </p:blipFill>
          <p:spPr>
            <a:xfrm>
              <a:off x="1435" y="1642"/>
              <a:ext cx="5065" cy="3951"/>
            </a:xfrm>
            <a:prstGeom prst="rect">
              <a:avLst/>
            </a:prstGeom>
          </p:spPr>
        </p:pic>
        <p:pic>
          <p:nvPicPr>
            <p:cNvPr id="6" name="图片 5"/>
            <p:cNvPicPr>
              <a:picLocks noChangeAspect="1"/>
            </p:cNvPicPr>
            <p:nvPr/>
          </p:nvPicPr>
          <p:blipFill>
            <a:blip r:embed="rId1"/>
            <a:srcRect t="41108" b="25837"/>
            <a:stretch>
              <a:fillRect/>
            </a:stretch>
          </p:blipFill>
          <p:spPr>
            <a:xfrm>
              <a:off x="1435" y="4902"/>
              <a:ext cx="5065" cy="3091"/>
            </a:xfrm>
            <a:prstGeom prst="rect">
              <a:avLst/>
            </a:prstGeom>
          </p:spPr>
        </p:pic>
        <p:pic>
          <p:nvPicPr>
            <p:cNvPr id="7" name="图片 6"/>
            <p:cNvPicPr>
              <a:picLocks noChangeAspect="1"/>
            </p:cNvPicPr>
            <p:nvPr/>
          </p:nvPicPr>
          <p:blipFill>
            <a:blip r:embed="rId1"/>
            <a:srcRect t="73115"/>
            <a:stretch>
              <a:fillRect/>
            </a:stretch>
          </p:blipFill>
          <p:spPr>
            <a:xfrm>
              <a:off x="1435" y="7451"/>
              <a:ext cx="5065" cy="2514"/>
            </a:xfrm>
            <a:prstGeom prst="rect">
              <a:avLst/>
            </a:prstGeom>
          </p:spPr>
        </p:pic>
      </p:grpSp>
      <p:pic>
        <p:nvPicPr>
          <p:cNvPr id="13" name="图片 12"/>
          <p:cNvPicPr>
            <a:picLocks noChangeAspect="1"/>
          </p:cNvPicPr>
          <p:nvPr/>
        </p:nvPicPr>
        <p:blipFill>
          <a:blip r:embed="rId2"/>
          <a:stretch>
            <a:fillRect/>
          </a:stretch>
        </p:blipFill>
        <p:spPr>
          <a:xfrm>
            <a:off x="5109210" y="965200"/>
            <a:ext cx="5776595" cy="5744210"/>
          </a:xfrm>
          <a:prstGeom prst="rect">
            <a:avLst/>
          </a:prstGeom>
        </p:spPr>
      </p:pic>
      <p:pic>
        <p:nvPicPr>
          <p:cNvPr id="2" name="20251009_193003">
            <a:hlinkClick r:id="" action="ppaction://media"/>
          </p:cNvPr>
          <p:cNvPicPr/>
          <p:nvPr>
            <a:audioFile r:link="rId3"/>
            <p:extLst>
              <p:ext uri="{DAA4B4D4-6D71-4841-9C94-3DE7FCFB9230}">
                <p14:media xmlns:p14="http://schemas.microsoft.com/office/powerpoint/2010/main" r:embed="rId4"/>
              </p:ext>
            </p:extLst>
          </p:nvPr>
        </p:nvPicPr>
        <p:blipFill>
          <a:blip r:embed="rId5"/>
          <a:stretch>
            <a:fillRect/>
          </a:stretch>
        </p:blipFill>
        <p:spPr>
          <a:xfrm>
            <a:off x="11012170" y="6133465"/>
            <a:ext cx="309880" cy="309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261"/>
    </mc:Choice>
    <mc:Fallback>
      <p:transition spd="slow" advTm="612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6751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11424" y="287201"/>
            <a:ext cx="10801200" cy="583565"/>
          </a:xfrm>
          <a:prstGeom prst="rect">
            <a:avLst/>
          </a:prstGeom>
          <a:noFill/>
        </p:spPr>
        <p:txBody>
          <a:bodyPr wrap="square" rtlCol="0">
            <a:spAutoFit/>
          </a:bodyPr>
          <a:lstStyle/>
          <a:p>
            <a:r>
              <a:rPr lang="en-US" altLang="zh-CN" sz="3200" b="1" dirty="0">
                <a:solidFill>
                  <a:prstClr val="black"/>
                </a:solidFill>
                <a:latin typeface="Times New Roman" panose="02020603050405020304" charset="0"/>
                <a:cs typeface="Times New Roman" panose="02020603050405020304" charset="0"/>
              </a:rPr>
              <a:t>CANDYSET</a:t>
            </a:r>
            <a:endParaRPr lang="en-US" altLang="zh-CN" sz="3200" b="1" dirty="0">
              <a:solidFill>
                <a:prstClr val="black"/>
              </a:solidFill>
              <a:latin typeface="Times New Roman" panose="02020603050405020304" charset="0"/>
              <a:cs typeface="Times New Roman" panose="02020603050405020304" charset="0"/>
            </a:endParaRPr>
          </a:p>
        </p:txBody>
      </p:sp>
      <p:pic>
        <p:nvPicPr>
          <p:cNvPr id="2" name="图片 1"/>
          <p:cNvPicPr>
            <a:picLocks noChangeAspect="1"/>
          </p:cNvPicPr>
          <p:nvPr/>
        </p:nvPicPr>
        <p:blipFill>
          <a:blip r:embed="rId1"/>
          <a:stretch>
            <a:fillRect/>
          </a:stretch>
        </p:blipFill>
        <p:spPr>
          <a:xfrm>
            <a:off x="1716405" y="1057910"/>
            <a:ext cx="8758555" cy="2000885"/>
          </a:xfrm>
          <a:prstGeom prst="rect">
            <a:avLst/>
          </a:prstGeom>
        </p:spPr>
      </p:pic>
      <p:pic>
        <p:nvPicPr>
          <p:cNvPr id="4" name="图片 3"/>
          <p:cNvPicPr>
            <a:picLocks noChangeAspect="1"/>
          </p:cNvPicPr>
          <p:nvPr/>
        </p:nvPicPr>
        <p:blipFill>
          <a:blip r:embed="rId2"/>
          <a:srcRect b="44730"/>
          <a:stretch>
            <a:fillRect/>
          </a:stretch>
        </p:blipFill>
        <p:spPr>
          <a:xfrm>
            <a:off x="1019175" y="3058795"/>
            <a:ext cx="6090920" cy="3169920"/>
          </a:xfrm>
          <a:prstGeom prst="rect">
            <a:avLst/>
          </a:prstGeom>
        </p:spPr>
      </p:pic>
      <p:pic>
        <p:nvPicPr>
          <p:cNvPr id="6" name="图片 5"/>
          <p:cNvPicPr>
            <a:picLocks noChangeAspect="1"/>
          </p:cNvPicPr>
          <p:nvPr/>
        </p:nvPicPr>
        <p:blipFill>
          <a:blip r:embed="rId3"/>
          <a:stretch>
            <a:fillRect/>
          </a:stretch>
        </p:blipFill>
        <p:spPr>
          <a:xfrm>
            <a:off x="7296785" y="3488055"/>
            <a:ext cx="3609975" cy="2310765"/>
          </a:xfrm>
          <a:prstGeom prst="rect">
            <a:avLst/>
          </a:prstGeom>
        </p:spPr>
      </p:pic>
      <p:pic>
        <p:nvPicPr>
          <p:cNvPr id="3" name="20251009_203625">
            <a:hlinkClick r:id="" action="ppaction://media"/>
          </p:cNvPr>
          <p:cNvPicPr/>
          <p:nvPr>
            <a:audioFile r:link="rId4"/>
            <p:extLst>
              <p:ext uri="{DAA4B4D4-6D71-4841-9C94-3DE7FCFB9230}">
                <p14:media xmlns:p14="http://schemas.microsoft.com/office/powerpoint/2010/main" r:embed="rId5"/>
              </p:ext>
            </p:extLst>
          </p:nvPr>
        </p:nvPicPr>
        <p:blipFill>
          <a:blip r:embed="rId6"/>
          <a:stretch>
            <a:fillRect/>
          </a:stretch>
        </p:blipFill>
        <p:spPr>
          <a:xfrm>
            <a:off x="10906760" y="6274435"/>
            <a:ext cx="309880" cy="309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261"/>
    </mc:Choice>
    <mc:Fallback>
      <p:transition spd="slow" advTm="612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4437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0"/>
          <p:cNvSpPr/>
          <p:nvPr/>
        </p:nvSpPr>
        <p:spPr>
          <a:xfrm>
            <a:off x="899160" y="1110615"/>
            <a:ext cx="10354945" cy="821690"/>
          </a:xfrm>
          <a:prstGeom prst="roundRect">
            <a:avLst>
              <a:gd name="adj" fmla="val 8000"/>
            </a:avLst>
          </a:prstGeom>
          <a:solidFill>
            <a:schemeClr val="tx2">
              <a:alpha val="15000"/>
            </a:schemeClr>
          </a:solidFill>
          <a:ln w="6055" cap="flat">
            <a:noFill/>
            <a:prstDash val="solid"/>
            <a:miter/>
          </a:ln>
        </p:spPr>
        <p:txBody>
          <a:bodyPr rtlCol="0" anchor="ctr"/>
          <a:lstStyle/>
          <a:p>
            <a:endParaRPr lang="zh-CN" altLang="en-US" dirty="0">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11" name="文本框 10"/>
          <p:cNvSpPr txBox="1"/>
          <p:nvPr/>
        </p:nvSpPr>
        <p:spPr>
          <a:xfrm>
            <a:off x="911424" y="287201"/>
            <a:ext cx="10801200" cy="583565"/>
          </a:xfrm>
          <a:prstGeom prst="rect">
            <a:avLst/>
          </a:prstGeom>
          <a:noFill/>
        </p:spPr>
        <p:txBody>
          <a:bodyPr wrap="square" rtlCol="0">
            <a:spAutoFit/>
          </a:bodyPr>
          <a:lstStyle/>
          <a:p>
            <a:r>
              <a:rPr lang="en-US" altLang="zh-CN" sz="3200" b="1" dirty="0">
                <a:solidFill>
                  <a:prstClr val="black"/>
                </a:solidFill>
                <a:latin typeface="Times New Roman" panose="02020603050405020304" charset="0"/>
                <a:cs typeface="Times New Roman" panose="02020603050405020304" charset="0"/>
              </a:rPr>
              <a:t>Benchmark Analysis – Fact-Checking Conclusion</a:t>
            </a:r>
            <a:endParaRPr lang="en-US" altLang="zh-CN" sz="3200" b="1" dirty="0">
              <a:solidFill>
                <a:prstClr val="black"/>
              </a:solidFill>
              <a:latin typeface="Times New Roman" panose="02020603050405020304" charset="0"/>
              <a:cs typeface="Times New Roman" panose="02020603050405020304" charset="0"/>
            </a:endParaRPr>
          </a:p>
        </p:txBody>
      </p:sp>
      <p:sp>
        <p:nvSpPr>
          <p:cNvPr id="5" name="文本框 4"/>
          <p:cNvSpPr txBox="1"/>
          <p:nvPr/>
        </p:nvSpPr>
        <p:spPr>
          <a:xfrm>
            <a:off x="997554" y="1268760"/>
            <a:ext cx="10355030" cy="429895"/>
          </a:xfrm>
          <a:prstGeom prst="rect">
            <a:avLst/>
          </a:prstGeom>
          <a:noFill/>
        </p:spPr>
        <p:txBody>
          <a:bodyPr wrap="square">
            <a:spAutoFit/>
          </a:bodyPr>
          <a:lstStyle/>
          <a:p>
            <a:pPr>
              <a:buNone/>
            </a:pPr>
            <a:r>
              <a:rPr lang="en-US" altLang="zh-CN" sz="2200" b="1" dirty="0">
                <a:solidFill>
                  <a:srgbClr val="000000"/>
                </a:solidFill>
                <a:effectLst/>
                <a:latin typeface="Times New Roman" panose="02020603050405020304" charset="0"/>
                <a:cs typeface="Times New Roman" panose="02020603050405020304" charset="0"/>
              </a:rPr>
              <a:t>Observation 2</a:t>
            </a:r>
            <a:r>
              <a:rPr lang="en-US" altLang="zh-CN" sz="2200" dirty="0">
                <a:solidFill>
                  <a:srgbClr val="000000"/>
                </a:solidFill>
                <a:effectLst/>
                <a:latin typeface="Times New Roman" panose="02020603050405020304" charset="0"/>
                <a:cs typeface="Times New Roman" panose="02020603050405020304" charset="0"/>
              </a:rPr>
              <a:t>: </a:t>
            </a:r>
            <a:r>
              <a:rPr lang="en-US" altLang="zh-CN" sz="2200" dirty="0">
                <a:latin typeface="Times New Roman" panose="02020603050405020304" charset="0"/>
                <a:cs typeface="Times New Roman" panose="02020603050405020304" charset="0"/>
              </a:rPr>
              <a:t>LLMs exhibit varied cons and pros across domains.</a:t>
            </a:r>
            <a:endParaRPr lang="en-US" altLang="zh-CN" sz="2200" dirty="0">
              <a:latin typeface="Times New Roman" panose="02020603050405020304" charset="0"/>
              <a:cs typeface="Times New Roman" panose="02020603050405020304" charset="0"/>
            </a:endParaRPr>
          </a:p>
        </p:txBody>
      </p:sp>
      <p:pic>
        <p:nvPicPr>
          <p:cNvPr id="2" name="图片 1"/>
          <p:cNvPicPr>
            <a:picLocks noChangeAspect="1"/>
          </p:cNvPicPr>
          <p:nvPr/>
        </p:nvPicPr>
        <p:blipFill>
          <a:blip r:embed="rId1"/>
          <a:stretch>
            <a:fillRect/>
          </a:stretch>
        </p:blipFill>
        <p:spPr>
          <a:xfrm>
            <a:off x="1299845" y="2334260"/>
            <a:ext cx="9552940" cy="3308985"/>
          </a:xfrm>
          <a:prstGeom prst="rect">
            <a:avLst/>
          </a:prstGeom>
        </p:spPr>
      </p:pic>
      <p:pic>
        <p:nvPicPr>
          <p:cNvPr id="9" name="图片 8"/>
          <p:cNvPicPr>
            <a:picLocks noChangeAspect="1"/>
          </p:cNvPicPr>
          <p:nvPr>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9746615" y="190500"/>
            <a:ext cx="2353945" cy="680085"/>
          </a:xfrm>
          <a:prstGeom prst="rect">
            <a:avLst/>
          </a:prstGeom>
        </p:spPr>
      </p:pic>
      <p:pic>
        <p:nvPicPr>
          <p:cNvPr id="3" name="20251009_204134">
            <a:hlinkClick r:id="" action="ppaction://media"/>
          </p:cNvPr>
          <p:cNvPicPr/>
          <p:nvPr>
            <a:audioFile r:link="rId4"/>
            <p:extLst>
              <p:ext uri="{DAA4B4D4-6D71-4841-9C94-3DE7FCFB9230}">
                <p14:media xmlns:p14="http://schemas.microsoft.com/office/powerpoint/2010/main" r:embed="rId5"/>
              </p:ext>
            </p:extLst>
          </p:nvPr>
        </p:nvPicPr>
        <p:blipFill>
          <a:blip r:embed="rId6"/>
          <a:stretch>
            <a:fillRect/>
          </a:stretch>
        </p:blipFill>
        <p:spPr>
          <a:xfrm>
            <a:off x="10852785" y="6245860"/>
            <a:ext cx="309880" cy="309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148"/>
    </mc:Choice>
    <mc:Fallback>
      <p:transition spd="slow" advTm="121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3477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0"/>
          <p:cNvSpPr/>
          <p:nvPr/>
        </p:nvSpPr>
        <p:spPr>
          <a:xfrm>
            <a:off x="899470" y="1110647"/>
            <a:ext cx="10355029" cy="1022209"/>
          </a:xfrm>
          <a:prstGeom prst="roundRect">
            <a:avLst>
              <a:gd name="adj" fmla="val 8000"/>
            </a:avLst>
          </a:prstGeom>
          <a:solidFill>
            <a:schemeClr val="tx2">
              <a:alpha val="15000"/>
            </a:schemeClr>
          </a:solidFill>
          <a:ln w="6055" cap="flat">
            <a:noFill/>
            <a:prstDash val="solid"/>
            <a:miter/>
          </a:ln>
        </p:spPr>
        <p:txBody>
          <a:bodyPr rtlCol="0" anchor="ctr"/>
          <a:lstStyle/>
          <a:p>
            <a:endParaRPr lang="zh-CN" altLang="en-US" dirty="0">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11" name="文本框 10"/>
          <p:cNvSpPr txBox="1"/>
          <p:nvPr/>
        </p:nvSpPr>
        <p:spPr>
          <a:xfrm>
            <a:off x="911424" y="287201"/>
            <a:ext cx="10801200" cy="583565"/>
          </a:xfrm>
          <a:prstGeom prst="rect">
            <a:avLst/>
          </a:prstGeom>
          <a:noFill/>
        </p:spPr>
        <p:txBody>
          <a:bodyPr wrap="square" rtlCol="0">
            <a:spAutoFit/>
          </a:bodyPr>
          <a:lstStyle/>
          <a:p>
            <a:r>
              <a:rPr lang="en-US" altLang="zh-CN" sz="3200" b="1" dirty="0">
                <a:solidFill>
                  <a:prstClr val="black"/>
                </a:solidFill>
                <a:latin typeface="Times New Roman" panose="02020603050405020304" charset="0"/>
                <a:cs typeface="Times New Roman" panose="02020603050405020304" charset="0"/>
              </a:rPr>
              <a:t>Benchmark Analysis – Fact-Checking Conclusion</a:t>
            </a:r>
            <a:endParaRPr lang="en-US" altLang="zh-CN" sz="3200" b="1" dirty="0">
              <a:solidFill>
                <a:prstClr val="black"/>
              </a:solidFill>
              <a:latin typeface="Times New Roman" panose="02020603050405020304" charset="0"/>
              <a:cs typeface="Times New Roman" panose="02020603050405020304" charset="0"/>
            </a:endParaRPr>
          </a:p>
        </p:txBody>
      </p:sp>
      <p:sp>
        <p:nvSpPr>
          <p:cNvPr id="5" name="文本框 4"/>
          <p:cNvSpPr txBox="1"/>
          <p:nvPr/>
        </p:nvSpPr>
        <p:spPr>
          <a:xfrm>
            <a:off x="997554" y="1268760"/>
            <a:ext cx="10355030" cy="768350"/>
          </a:xfrm>
          <a:prstGeom prst="rect">
            <a:avLst/>
          </a:prstGeom>
          <a:noFill/>
        </p:spPr>
        <p:txBody>
          <a:bodyPr wrap="square">
            <a:spAutoFit/>
          </a:bodyPr>
          <a:lstStyle/>
          <a:p>
            <a:pPr>
              <a:buNone/>
            </a:pPr>
            <a:r>
              <a:rPr lang="en-US" altLang="zh-CN" sz="2200" b="1" dirty="0">
                <a:solidFill>
                  <a:srgbClr val="000000"/>
                </a:solidFill>
                <a:effectLst/>
                <a:latin typeface="Times New Roman" panose="02020603050405020304" charset="0"/>
                <a:cs typeface="Times New Roman" panose="02020603050405020304" charset="0"/>
              </a:rPr>
              <a:t>Observation 1</a:t>
            </a:r>
            <a:r>
              <a:rPr lang="en-US" altLang="zh-CN" sz="2200" dirty="0">
                <a:solidFill>
                  <a:srgbClr val="000000"/>
                </a:solidFill>
                <a:effectLst/>
                <a:latin typeface="Times New Roman" panose="02020603050405020304" charset="0"/>
                <a:cs typeface="Times New Roman" panose="02020603050405020304" charset="0"/>
              </a:rPr>
              <a:t>: Even the best performing model, GPT-4o, achieves suboptimal semantic accuracy and F1 score.</a:t>
            </a:r>
            <a:endParaRPr lang="zh-CN" altLang="en-US" sz="2200" dirty="0">
              <a:latin typeface="Times New Roman" panose="02020603050405020304" charset="0"/>
              <a:cs typeface="Times New Roman" panose="02020603050405020304" charset="0"/>
            </a:endParaRPr>
          </a:p>
        </p:txBody>
      </p:sp>
      <p:pic>
        <p:nvPicPr>
          <p:cNvPr id="7" name="图片 6"/>
          <p:cNvPicPr>
            <a:picLocks noChangeAspect="1"/>
          </p:cNvPicPr>
          <p:nvPr/>
        </p:nvPicPr>
        <p:blipFill>
          <a:blip r:embed="rId1"/>
          <a:stretch>
            <a:fillRect/>
          </a:stretch>
        </p:blipFill>
        <p:spPr>
          <a:xfrm>
            <a:off x="1898650" y="2132965"/>
            <a:ext cx="8153400" cy="4467225"/>
          </a:xfrm>
          <a:prstGeom prst="rect">
            <a:avLst/>
          </a:prstGeom>
        </p:spPr>
      </p:pic>
      <p:pic>
        <p:nvPicPr>
          <p:cNvPr id="2" name="20251009_205135">
            <a:hlinkClick r:id="" action="ppaction://media"/>
          </p:cNvPr>
          <p:cNvPicPr/>
          <p:nvPr>
            <a:audioFile r:link="rId2"/>
            <p:extLst>
              <p:ext uri="{DAA4B4D4-6D71-4841-9C94-3DE7FCFB9230}">
                <p14:media xmlns:p14="http://schemas.microsoft.com/office/powerpoint/2010/main" r:embed="rId3"/>
              </p:ext>
            </p:extLst>
          </p:nvPr>
        </p:nvPicPr>
        <p:blipFill>
          <a:blip r:embed="rId4"/>
          <a:stretch>
            <a:fillRect/>
          </a:stretch>
        </p:blipFill>
        <p:spPr>
          <a:xfrm>
            <a:off x="10610215" y="5574665"/>
            <a:ext cx="309880" cy="309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148"/>
    </mc:Choice>
    <mc:Fallback>
      <p:transition spd="slow" advTm="121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3460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0"/>
          <p:cNvSpPr/>
          <p:nvPr/>
        </p:nvSpPr>
        <p:spPr>
          <a:xfrm>
            <a:off x="899160" y="1110615"/>
            <a:ext cx="10354945" cy="821690"/>
          </a:xfrm>
          <a:prstGeom prst="roundRect">
            <a:avLst>
              <a:gd name="adj" fmla="val 8000"/>
            </a:avLst>
          </a:prstGeom>
          <a:solidFill>
            <a:schemeClr val="tx2">
              <a:alpha val="15000"/>
            </a:schemeClr>
          </a:solidFill>
          <a:ln w="6055" cap="flat">
            <a:noFill/>
            <a:prstDash val="solid"/>
            <a:miter/>
          </a:ln>
        </p:spPr>
        <p:txBody>
          <a:bodyPr rtlCol="0" anchor="ctr"/>
          <a:lstStyle/>
          <a:p>
            <a:endParaRPr lang="zh-CN" altLang="en-US" dirty="0">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11" name="文本框 10"/>
          <p:cNvSpPr txBox="1"/>
          <p:nvPr/>
        </p:nvSpPr>
        <p:spPr>
          <a:xfrm>
            <a:off x="911424" y="287201"/>
            <a:ext cx="10801200" cy="583565"/>
          </a:xfrm>
          <a:prstGeom prst="rect">
            <a:avLst/>
          </a:prstGeom>
          <a:noFill/>
        </p:spPr>
        <p:txBody>
          <a:bodyPr wrap="square" rtlCol="0">
            <a:spAutoFit/>
          </a:bodyPr>
          <a:lstStyle/>
          <a:p>
            <a:r>
              <a:rPr lang="en-US" altLang="zh-CN" sz="3200" b="1" dirty="0">
                <a:solidFill>
                  <a:prstClr val="black"/>
                </a:solidFill>
                <a:latin typeface="Times New Roman" panose="02020603050405020304" charset="0"/>
                <a:cs typeface="Times New Roman" panose="02020603050405020304" charset="0"/>
              </a:rPr>
              <a:t>Benchmark Analysis – Fact-Checking Explanation</a:t>
            </a:r>
            <a:endParaRPr lang="en-US" altLang="zh-CN" sz="3200" b="1" dirty="0">
              <a:solidFill>
                <a:prstClr val="black"/>
              </a:solidFill>
              <a:latin typeface="Times New Roman" panose="02020603050405020304" charset="0"/>
              <a:cs typeface="Times New Roman" panose="02020603050405020304" charset="0"/>
            </a:endParaRPr>
          </a:p>
        </p:txBody>
      </p:sp>
      <p:sp>
        <p:nvSpPr>
          <p:cNvPr id="5" name="文本框 4"/>
          <p:cNvSpPr txBox="1"/>
          <p:nvPr/>
        </p:nvSpPr>
        <p:spPr>
          <a:xfrm>
            <a:off x="997554" y="1163985"/>
            <a:ext cx="10355030" cy="768350"/>
          </a:xfrm>
          <a:prstGeom prst="rect">
            <a:avLst/>
          </a:prstGeom>
          <a:noFill/>
        </p:spPr>
        <p:txBody>
          <a:bodyPr wrap="square">
            <a:spAutoFit/>
          </a:bodyPr>
          <a:lstStyle/>
          <a:p>
            <a:pPr>
              <a:buNone/>
            </a:pPr>
            <a:r>
              <a:rPr lang="en-US" altLang="zh-CN" sz="2200" b="1" dirty="0">
                <a:solidFill>
                  <a:srgbClr val="000000"/>
                </a:solidFill>
                <a:effectLst/>
                <a:latin typeface="Times New Roman" panose="02020603050405020304" charset="0"/>
                <a:cs typeface="Times New Roman" panose="02020603050405020304" charset="0"/>
              </a:rPr>
              <a:t>Observation 3</a:t>
            </a:r>
            <a:r>
              <a:rPr lang="en-US" altLang="zh-CN" sz="2200" dirty="0">
                <a:solidFill>
                  <a:srgbClr val="000000"/>
                </a:solidFill>
                <a:effectLst/>
                <a:latin typeface="Times New Roman" panose="02020603050405020304" charset="0"/>
                <a:cs typeface="Times New Roman" panose="02020603050405020304" charset="0"/>
              </a:rPr>
              <a:t>: F</a:t>
            </a:r>
            <a:r>
              <a:rPr lang="en-US" altLang="zh-CN" sz="2200" dirty="0">
                <a:latin typeface="Times New Roman" panose="02020603050405020304" charset="0"/>
                <a:cs typeface="Times New Roman" panose="02020603050405020304" charset="0"/>
              </a:rPr>
              <a:t>lawed factchecking explanations persist across temporal scenarios, with factual hallucination being the predominant error type. </a:t>
            </a:r>
            <a:endParaRPr lang="en-US" altLang="zh-CN" sz="2200" dirty="0">
              <a:latin typeface="Times New Roman" panose="02020603050405020304" charset="0"/>
              <a:cs typeface="Times New Roman" panose="02020603050405020304" charset="0"/>
            </a:endParaRPr>
          </a:p>
        </p:txBody>
      </p:sp>
      <p:pic>
        <p:nvPicPr>
          <p:cNvPr id="2" name="图片 1"/>
          <p:cNvPicPr/>
          <p:nvPr/>
        </p:nvPicPr>
        <p:blipFill>
          <a:blip r:embed="rId1"/>
          <a:stretch>
            <a:fillRect/>
          </a:stretch>
        </p:blipFill>
        <p:spPr>
          <a:xfrm>
            <a:off x="1261618" y="2093214"/>
            <a:ext cx="9534144" cy="3639312"/>
          </a:xfrm>
          <a:prstGeom prst="rect">
            <a:avLst/>
          </a:prstGeom>
        </p:spPr>
      </p:pic>
      <p:pic>
        <p:nvPicPr>
          <p:cNvPr id="4" name="20251009_210210">
            <a:hlinkClick r:id="" action="ppaction://media"/>
          </p:cNvPr>
          <p:cNvPicPr/>
          <p:nvPr>
            <a:audioFile r:link="rId2"/>
            <p:extLst>
              <p:ext uri="{DAA4B4D4-6D71-4841-9C94-3DE7FCFB9230}">
                <p14:media xmlns:p14="http://schemas.microsoft.com/office/powerpoint/2010/main" r:embed="rId3"/>
              </p:ext>
            </p:extLst>
          </p:nvPr>
        </p:nvPicPr>
        <p:blipFill>
          <a:blip r:embed="rId4"/>
          <a:stretch>
            <a:fillRect/>
          </a:stretch>
        </p:blipFill>
        <p:spPr>
          <a:xfrm>
            <a:off x="9895205" y="5781675"/>
            <a:ext cx="309880" cy="309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148"/>
    </mc:Choice>
    <mc:Fallback>
      <p:transition spd="slow" advTm="121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3765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0"/>
          <p:cNvSpPr/>
          <p:nvPr/>
        </p:nvSpPr>
        <p:spPr>
          <a:xfrm>
            <a:off x="899160" y="1110615"/>
            <a:ext cx="10354945" cy="821690"/>
          </a:xfrm>
          <a:prstGeom prst="roundRect">
            <a:avLst>
              <a:gd name="adj" fmla="val 8000"/>
            </a:avLst>
          </a:prstGeom>
          <a:solidFill>
            <a:schemeClr val="tx2">
              <a:alpha val="15000"/>
            </a:schemeClr>
          </a:solidFill>
          <a:ln w="6055" cap="flat">
            <a:noFill/>
            <a:prstDash val="solid"/>
            <a:miter/>
          </a:ln>
        </p:spPr>
        <p:txBody>
          <a:bodyPr rtlCol="0" anchor="ctr"/>
          <a:lstStyle/>
          <a:p>
            <a:endParaRPr lang="zh-CN" altLang="en-US" dirty="0">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11" name="文本框 10"/>
          <p:cNvSpPr txBox="1"/>
          <p:nvPr/>
        </p:nvSpPr>
        <p:spPr>
          <a:xfrm>
            <a:off x="911424" y="287201"/>
            <a:ext cx="10801200" cy="583565"/>
          </a:xfrm>
          <a:prstGeom prst="rect">
            <a:avLst/>
          </a:prstGeom>
          <a:noFill/>
        </p:spPr>
        <p:txBody>
          <a:bodyPr wrap="square" rtlCol="0">
            <a:spAutoFit/>
          </a:bodyPr>
          <a:lstStyle/>
          <a:p>
            <a:r>
              <a:rPr lang="en-US" altLang="zh-CN" sz="3200" b="1" dirty="0">
                <a:solidFill>
                  <a:prstClr val="black"/>
                </a:solidFill>
                <a:latin typeface="Times New Roman" panose="02020603050405020304" charset="0"/>
                <a:cs typeface="Times New Roman" panose="02020603050405020304" charset="0"/>
              </a:rPr>
              <a:t>Benchmark Analysis – Fact-Checking Explanation</a:t>
            </a:r>
            <a:endParaRPr lang="en-US" altLang="zh-CN" sz="3200" b="1" dirty="0">
              <a:solidFill>
                <a:prstClr val="black"/>
              </a:solidFill>
              <a:latin typeface="Times New Roman" panose="02020603050405020304" charset="0"/>
              <a:cs typeface="Times New Roman" panose="02020603050405020304" charset="0"/>
            </a:endParaRPr>
          </a:p>
        </p:txBody>
      </p:sp>
      <p:sp>
        <p:nvSpPr>
          <p:cNvPr id="5" name="文本框 4"/>
          <p:cNvSpPr txBox="1"/>
          <p:nvPr/>
        </p:nvSpPr>
        <p:spPr>
          <a:xfrm>
            <a:off x="997554" y="1163985"/>
            <a:ext cx="10355030" cy="768350"/>
          </a:xfrm>
          <a:prstGeom prst="rect">
            <a:avLst/>
          </a:prstGeom>
          <a:noFill/>
        </p:spPr>
        <p:txBody>
          <a:bodyPr wrap="square">
            <a:spAutoFit/>
          </a:bodyPr>
          <a:lstStyle/>
          <a:p>
            <a:pPr>
              <a:buNone/>
            </a:pPr>
            <a:r>
              <a:rPr lang="en-US" altLang="zh-CN" sz="2200" b="1" dirty="0">
                <a:solidFill>
                  <a:srgbClr val="000000"/>
                </a:solidFill>
                <a:effectLst/>
                <a:latin typeface="Times New Roman" panose="02020603050405020304" charset="0"/>
                <a:cs typeface="Times New Roman" panose="02020603050405020304" charset="0"/>
              </a:rPr>
              <a:t>Observation 4</a:t>
            </a:r>
            <a:r>
              <a:rPr lang="en-US" altLang="zh-CN" sz="2200" dirty="0">
                <a:solidFill>
                  <a:srgbClr val="000000"/>
                </a:solidFill>
                <a:effectLst/>
                <a:latin typeface="Times New Roman" panose="02020603050405020304" charset="0"/>
                <a:cs typeface="Times New Roman" panose="02020603050405020304" charset="0"/>
              </a:rPr>
              <a:t>: </a:t>
            </a:r>
            <a:r>
              <a:rPr lang="en-US" altLang="zh-CN" sz="2200" dirty="0">
                <a:latin typeface="Times New Roman" panose="02020603050405020304" charset="0"/>
                <a:cs typeface="Times New Roman" panose="02020603050405020304" charset="0"/>
              </a:rPr>
              <a:t>LLM-generated explanations are often contaminated by plausible-sounding misinformation, leading the LLM to incorrectly accept it as fact.</a:t>
            </a:r>
            <a:endParaRPr lang="en-US" altLang="zh-CN" sz="2200" dirty="0">
              <a:latin typeface="Times New Roman" panose="02020603050405020304" charset="0"/>
              <a:cs typeface="Times New Roman" panose="02020603050405020304" charset="0"/>
            </a:endParaRPr>
          </a:p>
        </p:txBody>
      </p:sp>
      <p:pic>
        <p:nvPicPr>
          <p:cNvPr id="8" name="图片 7" descr="changedescription"/>
          <p:cNvPicPr>
            <a:picLocks noChangeAspect="1"/>
          </p:cNvPicPr>
          <p:nvPr/>
        </p:nvPicPr>
        <p:blipFill>
          <a:blip r:embed="rId1"/>
          <a:stretch>
            <a:fillRect/>
          </a:stretch>
        </p:blipFill>
        <p:spPr>
          <a:xfrm>
            <a:off x="1838960" y="2332355"/>
            <a:ext cx="8302625" cy="3399790"/>
          </a:xfrm>
          <a:prstGeom prst="rect">
            <a:avLst/>
          </a:prstGeom>
        </p:spPr>
      </p:pic>
      <p:pic>
        <p:nvPicPr>
          <p:cNvPr id="9" name="20251009_212113">
            <a:hlinkClick r:id="" action="ppaction://media"/>
          </p:cNvPr>
          <p:cNvPicPr/>
          <p:nvPr>
            <a:audioFile r:link="rId2"/>
            <p:extLst>
              <p:ext uri="{DAA4B4D4-6D71-4841-9C94-3DE7FCFB9230}">
                <p14:media xmlns:p14="http://schemas.microsoft.com/office/powerpoint/2010/main" r:embed="rId3"/>
              </p:ext>
            </p:extLst>
          </p:nvPr>
        </p:nvPicPr>
        <p:blipFill>
          <a:blip r:embed="rId4"/>
          <a:stretch>
            <a:fillRect/>
          </a:stretch>
        </p:blipFill>
        <p:spPr>
          <a:xfrm>
            <a:off x="10141585" y="6021705"/>
            <a:ext cx="309880" cy="309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148"/>
    </mc:Choice>
    <mc:Fallback>
      <p:transition spd="slow" advTm="121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4744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9"/>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0"/>
          <p:cNvSpPr/>
          <p:nvPr/>
        </p:nvSpPr>
        <p:spPr>
          <a:xfrm>
            <a:off x="899160" y="1110615"/>
            <a:ext cx="10354945" cy="821690"/>
          </a:xfrm>
          <a:prstGeom prst="roundRect">
            <a:avLst>
              <a:gd name="adj" fmla="val 8000"/>
            </a:avLst>
          </a:prstGeom>
          <a:solidFill>
            <a:schemeClr val="tx2">
              <a:alpha val="15000"/>
            </a:schemeClr>
          </a:solidFill>
          <a:ln w="6055" cap="flat">
            <a:noFill/>
            <a:prstDash val="solid"/>
            <a:miter/>
          </a:ln>
        </p:spPr>
        <p:txBody>
          <a:bodyPr rtlCol="0" anchor="ctr"/>
          <a:lstStyle/>
          <a:p>
            <a:endParaRPr lang="zh-CN" altLang="en-US" dirty="0">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11" name="文本框 10"/>
          <p:cNvSpPr txBox="1"/>
          <p:nvPr/>
        </p:nvSpPr>
        <p:spPr>
          <a:xfrm>
            <a:off x="911424" y="287201"/>
            <a:ext cx="10801200" cy="583565"/>
          </a:xfrm>
          <a:prstGeom prst="rect">
            <a:avLst/>
          </a:prstGeom>
          <a:noFill/>
        </p:spPr>
        <p:txBody>
          <a:bodyPr wrap="square" rtlCol="0">
            <a:spAutoFit/>
          </a:bodyPr>
          <a:lstStyle/>
          <a:p>
            <a:r>
              <a:rPr lang="en-US" altLang="zh-CN" sz="3200" b="1" dirty="0">
                <a:solidFill>
                  <a:prstClr val="black"/>
                </a:solidFill>
                <a:latin typeface="Times New Roman" panose="02020603050405020304" charset="0"/>
                <a:cs typeface="Times New Roman" panose="02020603050405020304" charset="0"/>
              </a:rPr>
              <a:t>Benchmark Analysis – Fact-Checking Explanation</a:t>
            </a:r>
            <a:endParaRPr lang="en-US" altLang="zh-CN" sz="3200" b="1" dirty="0">
              <a:solidFill>
                <a:prstClr val="black"/>
              </a:solidFill>
              <a:latin typeface="Times New Roman" panose="02020603050405020304" charset="0"/>
              <a:cs typeface="Times New Roman" panose="02020603050405020304" charset="0"/>
            </a:endParaRPr>
          </a:p>
        </p:txBody>
      </p:sp>
      <p:sp>
        <p:nvSpPr>
          <p:cNvPr id="5" name="文本框 4"/>
          <p:cNvSpPr txBox="1"/>
          <p:nvPr/>
        </p:nvSpPr>
        <p:spPr>
          <a:xfrm>
            <a:off x="997554" y="1163985"/>
            <a:ext cx="10355030" cy="768350"/>
          </a:xfrm>
          <a:prstGeom prst="rect">
            <a:avLst/>
          </a:prstGeom>
          <a:noFill/>
        </p:spPr>
        <p:txBody>
          <a:bodyPr wrap="square">
            <a:spAutoFit/>
          </a:bodyPr>
          <a:lstStyle/>
          <a:p>
            <a:pPr>
              <a:buNone/>
            </a:pPr>
            <a:r>
              <a:rPr lang="en-US" altLang="zh-CN" sz="2200" b="1" dirty="0">
                <a:solidFill>
                  <a:srgbClr val="000000"/>
                </a:solidFill>
                <a:effectLst/>
                <a:latin typeface="Times New Roman" panose="02020603050405020304" charset="0"/>
                <a:cs typeface="Times New Roman" panose="02020603050405020304" charset="0"/>
              </a:rPr>
              <a:t>Observation 5</a:t>
            </a:r>
            <a:r>
              <a:rPr lang="en-US" altLang="zh-CN" sz="2200" dirty="0">
                <a:solidFill>
                  <a:srgbClr val="000000"/>
                </a:solidFill>
                <a:effectLst/>
                <a:latin typeface="Times New Roman" panose="02020603050405020304" charset="0"/>
                <a:cs typeface="Times New Roman" panose="02020603050405020304" charset="0"/>
              </a:rPr>
              <a:t>: </a:t>
            </a:r>
            <a:r>
              <a:rPr lang="en-US" altLang="zh-CN" sz="2200" dirty="0">
                <a:latin typeface="Times New Roman" panose="02020603050405020304" charset="0"/>
                <a:cs typeface="Times New Roman" panose="02020603050405020304" charset="0"/>
              </a:rPr>
              <a:t>The limited temporal awareness of LLMs significantly undermines their fact-checking accuracy</a:t>
            </a:r>
            <a:endParaRPr lang="en-US" altLang="zh-CN" sz="2200" dirty="0">
              <a:latin typeface="Times New Roman" panose="02020603050405020304" charset="0"/>
              <a:cs typeface="Times New Roman" panose="02020603050405020304" charset="0"/>
            </a:endParaRPr>
          </a:p>
        </p:txBody>
      </p:sp>
      <p:pic>
        <p:nvPicPr>
          <p:cNvPr id="3" name="图片 2"/>
          <p:cNvPicPr>
            <a:picLocks noChangeAspect="1"/>
          </p:cNvPicPr>
          <p:nvPr/>
        </p:nvPicPr>
        <p:blipFill>
          <a:blip r:embed="rId1"/>
          <a:stretch>
            <a:fillRect/>
          </a:stretch>
        </p:blipFill>
        <p:spPr>
          <a:xfrm>
            <a:off x="997585" y="2525395"/>
            <a:ext cx="10372090" cy="2731770"/>
          </a:xfrm>
          <a:prstGeom prst="rect">
            <a:avLst/>
          </a:prstGeom>
        </p:spPr>
      </p:pic>
      <p:pic>
        <p:nvPicPr>
          <p:cNvPr id="2" name="20251009_213210">
            <a:hlinkClick r:id="" action="ppaction://media"/>
          </p:cNvPr>
          <p:cNvPicPr/>
          <p:nvPr>
            <a:audioFile r:link="rId2"/>
            <p:extLst>
              <p:ext uri="{DAA4B4D4-6D71-4841-9C94-3DE7FCFB9230}">
                <p14:media xmlns:p14="http://schemas.microsoft.com/office/powerpoint/2010/main" r:embed="rId3"/>
              </p:ext>
            </p:extLst>
          </p:nvPr>
        </p:nvPicPr>
        <p:blipFill>
          <a:blip r:embed="rId4"/>
          <a:stretch>
            <a:fillRect/>
          </a:stretch>
        </p:blipFill>
        <p:spPr>
          <a:xfrm>
            <a:off x="10520680" y="5909945"/>
            <a:ext cx="309880" cy="309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148"/>
    </mc:Choice>
    <mc:Fallback>
      <p:transition spd="slow" advTm="121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3172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0"/>
          <p:cNvSpPr/>
          <p:nvPr/>
        </p:nvSpPr>
        <p:spPr>
          <a:xfrm>
            <a:off x="899160" y="1110615"/>
            <a:ext cx="10340975" cy="1204595"/>
          </a:xfrm>
          <a:prstGeom prst="roundRect">
            <a:avLst>
              <a:gd name="adj" fmla="val 8000"/>
            </a:avLst>
          </a:prstGeom>
          <a:solidFill>
            <a:schemeClr val="tx2">
              <a:alpha val="15000"/>
            </a:schemeClr>
          </a:solidFill>
          <a:ln w="6055" cap="flat">
            <a:noFill/>
            <a:prstDash val="solid"/>
            <a:miter/>
          </a:ln>
        </p:spPr>
        <p:txBody>
          <a:bodyPr rtlCol="0" anchor="ctr"/>
          <a:lstStyle/>
          <a:p>
            <a:endParaRPr lang="zh-CN" altLang="en-US" dirty="0">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11" name="文本框 10"/>
          <p:cNvSpPr txBox="1"/>
          <p:nvPr/>
        </p:nvSpPr>
        <p:spPr>
          <a:xfrm>
            <a:off x="911424" y="287201"/>
            <a:ext cx="10801200" cy="583565"/>
          </a:xfrm>
          <a:prstGeom prst="rect">
            <a:avLst/>
          </a:prstGeom>
          <a:noFill/>
        </p:spPr>
        <p:txBody>
          <a:bodyPr wrap="square" rtlCol="0">
            <a:spAutoFit/>
          </a:bodyPr>
          <a:lstStyle/>
          <a:p>
            <a:r>
              <a:rPr lang="en-US" altLang="zh-CN" sz="3200" b="1" dirty="0">
                <a:solidFill>
                  <a:prstClr val="black"/>
                </a:solidFill>
                <a:latin typeface="Times New Roman" panose="02020603050405020304" charset="0"/>
                <a:cs typeface="Times New Roman" panose="02020603050405020304" charset="0"/>
              </a:rPr>
              <a:t>Benchmark Analysis – LLM-Assisted Fact-Checking</a:t>
            </a:r>
            <a:endParaRPr lang="en-US" altLang="zh-CN" sz="3200" b="1" dirty="0">
              <a:solidFill>
                <a:prstClr val="black"/>
              </a:solidFill>
              <a:latin typeface="Times New Roman" panose="02020603050405020304" charset="0"/>
              <a:cs typeface="Times New Roman" panose="02020603050405020304" charset="0"/>
            </a:endParaRPr>
          </a:p>
        </p:txBody>
      </p:sp>
      <p:sp>
        <p:nvSpPr>
          <p:cNvPr id="5" name="文本框 4"/>
          <p:cNvSpPr txBox="1"/>
          <p:nvPr/>
        </p:nvSpPr>
        <p:spPr>
          <a:xfrm>
            <a:off x="911225" y="1208405"/>
            <a:ext cx="10498455" cy="1106805"/>
          </a:xfrm>
          <a:prstGeom prst="rect">
            <a:avLst/>
          </a:prstGeom>
          <a:noFill/>
        </p:spPr>
        <p:txBody>
          <a:bodyPr wrap="square">
            <a:spAutoFit/>
          </a:bodyPr>
          <a:lstStyle/>
          <a:p>
            <a:pPr>
              <a:buNone/>
            </a:pPr>
            <a:r>
              <a:rPr lang="en-US" altLang="zh-CN" sz="2200" b="1" dirty="0">
                <a:solidFill>
                  <a:srgbClr val="000000"/>
                </a:solidFill>
                <a:effectLst/>
                <a:latin typeface="Times New Roman" panose="02020603050405020304" charset="0"/>
                <a:cs typeface="Times New Roman" panose="02020603050405020304" charset="0"/>
              </a:rPr>
              <a:t>Observation 6</a:t>
            </a:r>
            <a:r>
              <a:rPr lang="en-US" altLang="zh-CN" sz="2200" dirty="0">
                <a:solidFill>
                  <a:srgbClr val="000000"/>
                </a:solidFill>
                <a:effectLst/>
                <a:latin typeface="Times New Roman" panose="02020603050405020304" charset="0"/>
                <a:cs typeface="Times New Roman" panose="02020603050405020304" charset="0"/>
              </a:rPr>
              <a:t>: </a:t>
            </a:r>
            <a:r>
              <a:rPr lang="en-US" altLang="zh-CN" sz="2200" dirty="0">
                <a:latin typeface="Times New Roman" panose="02020603050405020304" charset="0"/>
                <a:cs typeface="Times New Roman" panose="02020603050405020304" charset="0"/>
              </a:rPr>
              <a:t>LLM assistance significantly improves factchecking accuracy across all educational levels compared to solo human efforts, showcasing the practical utility of LLMs in realworld fact-checking.</a:t>
            </a:r>
            <a:endParaRPr lang="en-US" altLang="zh-CN" sz="2200" dirty="0">
              <a:latin typeface="Times New Roman" panose="02020603050405020304" charset="0"/>
              <a:cs typeface="Times New Roman" panose="02020603050405020304" charset="0"/>
            </a:endParaRPr>
          </a:p>
        </p:txBody>
      </p:sp>
      <p:pic>
        <p:nvPicPr>
          <p:cNvPr id="2" name="图片 1"/>
          <p:cNvPicPr>
            <a:picLocks noChangeAspect="1"/>
          </p:cNvPicPr>
          <p:nvPr/>
        </p:nvPicPr>
        <p:blipFill>
          <a:blip r:embed="rId1"/>
          <a:srcRect b="2269"/>
          <a:stretch>
            <a:fillRect/>
          </a:stretch>
        </p:blipFill>
        <p:spPr>
          <a:xfrm>
            <a:off x="2986405" y="2653030"/>
            <a:ext cx="6166485" cy="3223260"/>
          </a:xfrm>
          <a:prstGeom prst="rect">
            <a:avLst/>
          </a:prstGeom>
        </p:spPr>
      </p:pic>
      <p:pic>
        <p:nvPicPr>
          <p:cNvPr id="3" name="20251009_215207">
            <a:hlinkClick r:id="" action="ppaction://media"/>
          </p:cNvPr>
          <p:cNvPicPr/>
          <p:nvPr>
            <a:audioFile r:link="rId2"/>
            <p:extLst>
              <p:ext uri="{DAA4B4D4-6D71-4841-9C94-3DE7FCFB9230}">
                <p14:media xmlns:p14="http://schemas.microsoft.com/office/powerpoint/2010/main" r:embed="rId3"/>
              </p:ext>
            </p:extLst>
          </p:nvPr>
        </p:nvPicPr>
        <p:blipFill>
          <a:blip r:embed="rId4"/>
          <a:stretch>
            <a:fillRect/>
          </a:stretch>
        </p:blipFill>
        <p:spPr>
          <a:xfrm>
            <a:off x="10356850" y="5805805"/>
            <a:ext cx="309880" cy="309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148"/>
    </mc:Choice>
    <mc:Fallback>
      <p:transition spd="slow" advTm="121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8668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11424" y="287201"/>
            <a:ext cx="10801200" cy="583565"/>
          </a:xfrm>
          <a:prstGeom prst="rect">
            <a:avLst/>
          </a:prstGeom>
          <a:noFill/>
        </p:spPr>
        <p:txBody>
          <a:bodyPr wrap="square" rtlCol="0">
            <a:spAutoFit/>
          </a:bodyPr>
          <a:lstStyle/>
          <a:p>
            <a:r>
              <a:rPr lang="en-US" altLang="zh-CN" sz="3200" b="1" dirty="0">
                <a:solidFill>
                  <a:prstClr val="black"/>
                </a:solidFill>
                <a:latin typeface="Times New Roman" panose="02020603050405020304" charset="0"/>
                <a:cs typeface="Times New Roman" panose="02020603050405020304" charset="0"/>
              </a:rPr>
              <a:t>Conclusion </a:t>
            </a:r>
            <a:endParaRPr lang="en-US" altLang="zh-CN" sz="3200" b="1" dirty="0">
              <a:solidFill>
                <a:prstClr val="black"/>
              </a:solidFill>
              <a:latin typeface="Times New Roman" panose="02020603050405020304" charset="0"/>
              <a:cs typeface="Times New Roman" panose="02020603050405020304" charset="0"/>
            </a:endParaRPr>
          </a:p>
        </p:txBody>
      </p:sp>
      <p:sp>
        <p:nvSpPr>
          <p:cNvPr id="5" name="Text"/>
          <p:cNvSpPr>
            <a:spLocks noChangeAspect="1"/>
          </p:cNvSpPr>
          <p:nvPr/>
        </p:nvSpPr>
        <p:spPr>
          <a:xfrm>
            <a:off x="839470" y="1653540"/>
            <a:ext cx="10513060" cy="3348355"/>
          </a:xfrm>
          <a:prstGeom prst="round2SameRect">
            <a:avLst>
              <a:gd name="adj1" fmla="val 0"/>
              <a:gd name="adj2" fmla="val 5000"/>
            </a:avLst>
          </a:prstGeom>
          <a:solidFill>
            <a:schemeClr val="bg1">
              <a:lumMod val="85000"/>
              <a:alpha val="15000"/>
            </a:schemeClr>
          </a:solidFill>
          <a:ln w="6055" cap="flat">
            <a:noFill/>
            <a:prstDash val="solid"/>
            <a:miter/>
          </a:ln>
        </p:spPr>
        <p:txBody>
          <a:bodyPr wrap="square" lIns="91440" tIns="45720" rIns="91440" bIns="45720" rtlCol="0" anchor="ctr" anchorCtr="0">
            <a:normAutofit/>
          </a:bodyPr>
          <a:lstStyle/>
          <a:p>
            <a:pPr algn="ctr">
              <a:lnSpc>
                <a:spcPct val="120000"/>
              </a:lnSpc>
            </a:pPr>
            <a:endParaRPr kumimoji="1" lang="en-US" altLang="zh-CN" sz="1200" dirty="0">
              <a:solidFill>
                <a:schemeClr val="tx1"/>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7" name="Bullet"/>
          <p:cNvSpPr>
            <a:spLocks noChangeAspect="1"/>
          </p:cNvSpPr>
          <p:nvPr/>
        </p:nvSpPr>
        <p:spPr>
          <a:xfrm>
            <a:off x="839416" y="1173943"/>
            <a:ext cx="10513168" cy="588331"/>
          </a:xfrm>
          <a:prstGeom prst="round2SameRect">
            <a:avLst>
              <a:gd name="adj1" fmla="val 2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rmAutofit fontScale="72500"/>
          </a:bodyPr>
          <a:lstStyle/>
          <a:p>
            <a:pPr algn="ctr"/>
            <a:r>
              <a:rPr kumimoji="1" lang="en-US" altLang="zh-CN" sz="2800" b="1" dirty="0">
                <a:solidFill>
                  <a:srgbClr val="FFFFFF"/>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Conclusion – </a:t>
            </a:r>
            <a:r>
              <a:rPr kumimoji="1" lang="en-US" altLang="zh-CN" sz="2800" b="1" i="1" dirty="0">
                <a:solidFill>
                  <a:srgbClr val="FFFFFF"/>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Three-fold Contributions</a:t>
            </a:r>
            <a:endParaRPr kumimoji="1" lang="en-US" altLang="zh-CN" sz="2800" b="1" i="1" dirty="0">
              <a:solidFill>
                <a:srgbClr val="FFFFFF"/>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8" name="灯片编号占位符 3"/>
          <p:cNvSpPr txBox="1"/>
          <p:nvPr/>
        </p:nvSpPr>
        <p:spPr>
          <a:xfrm>
            <a:off x="5658329" y="5511375"/>
            <a:ext cx="1042988"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a:solidFill>
                  <a:prstClr val="white"/>
                </a:solidFill>
              </a:rPr>
              <a:t>2</a:t>
            </a:r>
            <a:endParaRPr lang="zh-CN" altLang="en-US" dirty="0">
              <a:solidFill>
                <a:prstClr val="white"/>
              </a:solidFill>
            </a:endParaRPr>
          </a:p>
        </p:txBody>
      </p:sp>
      <p:sp>
        <p:nvSpPr>
          <p:cNvPr id="4" name="文本框 3"/>
          <p:cNvSpPr txBox="1"/>
          <p:nvPr/>
        </p:nvSpPr>
        <p:spPr>
          <a:xfrm>
            <a:off x="1214120" y="1927860"/>
            <a:ext cx="9907905" cy="2799715"/>
          </a:xfrm>
          <a:prstGeom prst="rect">
            <a:avLst/>
          </a:prstGeom>
          <a:noFill/>
        </p:spPr>
        <p:txBody>
          <a:bodyPr wrap="square">
            <a:spAutoFit/>
          </a:bodyPr>
          <a:p>
            <a:pPr>
              <a:buNone/>
            </a:pPr>
            <a:r>
              <a:rPr lang="en-US" altLang="zh-CN" sz="2200" dirty="0">
                <a:latin typeface="Times New Roman" panose="02020603050405020304" charset="0"/>
                <a:cs typeface="Times New Roman" panose="02020603050405020304" charset="0"/>
              </a:rPr>
              <a:t>This work investigates LLMs’ deficiencies in fact-checking real-world misinformation and offers three key contributions:</a:t>
            </a:r>
            <a:endParaRPr lang="en-US" altLang="zh-CN" sz="2200" dirty="0">
              <a:latin typeface="Times New Roman" panose="02020603050405020304" charset="0"/>
              <a:cs typeface="Times New Roman" panose="02020603050405020304" charset="0"/>
            </a:endParaRPr>
          </a:p>
          <a:p>
            <a:pPr indent="0">
              <a:buFont typeface="Arial" panose="020B0604020202020204" pitchFamily="34" charset="0"/>
              <a:buNone/>
            </a:pPr>
            <a:r>
              <a:rPr lang="en-US" altLang="zh-CN" sz="2200" dirty="0">
                <a:latin typeface="Times New Roman" panose="02020603050405020304" charset="0"/>
                <a:cs typeface="Times New Roman" panose="02020603050405020304" charset="0"/>
              </a:rPr>
              <a:t>1.The introduction of CANDY, a novel benchmark tailored for this task.</a:t>
            </a:r>
            <a:endParaRPr lang="en-US" altLang="zh-CN" sz="2200" dirty="0">
              <a:latin typeface="Times New Roman" panose="02020603050405020304" charset="0"/>
              <a:cs typeface="Times New Roman" panose="02020603050405020304" charset="0"/>
            </a:endParaRPr>
          </a:p>
          <a:p>
            <a:pPr>
              <a:buNone/>
            </a:pPr>
            <a:r>
              <a:rPr lang="en-US" altLang="zh-CN" sz="2200" dirty="0">
                <a:latin typeface="Times New Roman" panose="02020603050405020304" charset="0"/>
                <a:cs typeface="Times New Roman" panose="02020603050405020304" charset="0"/>
              </a:rPr>
              <a:t>2.The creation of a large-scale CANDYSET dataset for evaluating LLM performance across contamination-free and contamination contexts, along with a fine-grained taxonomy for categorizing flawed LLM explanations.</a:t>
            </a:r>
            <a:endParaRPr lang="en-US" altLang="zh-CN" sz="2200" dirty="0">
              <a:latin typeface="Times New Roman" panose="02020603050405020304" charset="0"/>
              <a:cs typeface="Times New Roman" panose="02020603050405020304" charset="0"/>
            </a:endParaRPr>
          </a:p>
          <a:p>
            <a:pPr>
              <a:buNone/>
            </a:pPr>
            <a:r>
              <a:rPr lang="en-US" altLang="zh-CN" sz="2200" dirty="0">
                <a:latin typeface="Times New Roman" panose="02020603050405020304" charset="0"/>
                <a:cs typeface="Times New Roman" panose="02020603050405020304" charset="0"/>
              </a:rPr>
              <a:t>3.A comprehensive benchmark of sixteen LLMs and three LRMs to uncover key challenges in their fact-checking capabilities.</a:t>
            </a:r>
            <a:endParaRPr lang="en-US" altLang="zh-CN" sz="2200" dirty="0">
              <a:latin typeface="Times New Roman" panose="02020603050405020304" charset="0"/>
              <a:cs typeface="Times New Roman" panose="02020603050405020304" charset="0"/>
            </a:endParaRPr>
          </a:p>
        </p:txBody>
      </p:sp>
      <p:pic>
        <p:nvPicPr>
          <p:cNvPr id="2" name="20251009_220427">
            <a:hlinkClick r:id="" action="ppaction://media"/>
          </p:cNvPr>
          <p:cNvPicPr/>
          <p:nvPr>
            <a:audioFile r:link="rId1"/>
            <p:extLst>
              <p:ext uri="{DAA4B4D4-6D71-4841-9C94-3DE7FCFB9230}">
                <p14:media xmlns:p14="http://schemas.microsoft.com/office/powerpoint/2010/main" r:embed="rId2"/>
              </p:ext>
            </p:extLst>
          </p:nvPr>
        </p:nvPicPr>
        <p:blipFill>
          <a:blip r:embed="rId3"/>
          <a:stretch>
            <a:fillRect/>
          </a:stretch>
        </p:blipFill>
        <p:spPr>
          <a:xfrm>
            <a:off x="10812145" y="5566410"/>
            <a:ext cx="309880" cy="309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095"/>
    </mc:Choice>
    <mc:Fallback>
      <p:transition spd="slow" advTm="5309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2788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a:blip r:embed="rId1"/>
          <a:stretch>
            <a:fillRect/>
          </a:stretch>
        </p:blipFill>
        <p:spPr>
          <a:xfrm>
            <a:off x="566420" y="674370"/>
            <a:ext cx="4058285" cy="744855"/>
          </a:xfrm>
          <a:prstGeom prst="rect">
            <a:avLst/>
          </a:prstGeom>
        </p:spPr>
      </p:pic>
      <p:pic>
        <p:nvPicPr>
          <p:cNvPr id="9" name="图片 8"/>
          <p:cNvPicPr>
            <a:picLocks noChangeAspect="1"/>
          </p:cNvPicPr>
          <p:nvPr>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4347761" y="5736183"/>
            <a:ext cx="2688853" cy="776335"/>
          </a:xfrm>
          <a:prstGeom prst="rect">
            <a:avLst/>
          </a:prstGeom>
        </p:spPr>
      </p:pic>
      <p:sp>
        <p:nvSpPr>
          <p:cNvPr id="7" name="矩形 6"/>
          <p:cNvSpPr/>
          <p:nvPr/>
        </p:nvSpPr>
        <p:spPr>
          <a:xfrm>
            <a:off x="0" y="2500834"/>
            <a:ext cx="12192000" cy="11071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solidFill>
                  <a:prstClr val="white"/>
                </a:solidFill>
                <a:latin typeface="Times New Roman Regular" panose="02020503050405090304" charset="0"/>
                <a:cs typeface="Times New Roman Regular" panose="02020503050405090304" charset="0"/>
              </a:rPr>
              <a:t>CANDY: Benchmarking LLMs’ Limitations and Assistive Potential in</a:t>
            </a:r>
            <a:endParaRPr lang="en-US" altLang="zh-CN" sz="3200">
              <a:solidFill>
                <a:prstClr val="white"/>
              </a:solidFill>
              <a:latin typeface="Times New Roman Regular" panose="02020503050405090304" charset="0"/>
              <a:cs typeface="Times New Roman Regular" panose="02020503050405090304" charset="0"/>
            </a:endParaRPr>
          </a:p>
          <a:p>
            <a:pPr algn="ctr"/>
            <a:r>
              <a:rPr lang="en-US" altLang="zh-CN" sz="3200">
                <a:solidFill>
                  <a:prstClr val="white"/>
                </a:solidFill>
                <a:latin typeface="Times New Roman Regular" panose="02020503050405090304" charset="0"/>
                <a:cs typeface="Times New Roman Regular" panose="02020503050405090304" charset="0"/>
              </a:rPr>
              <a:t>Chinese Misinformation Fact-Checking</a:t>
            </a:r>
            <a:endParaRPr lang="en-US" altLang="zh-CN" sz="3200">
              <a:solidFill>
                <a:prstClr val="white"/>
              </a:solidFill>
              <a:latin typeface="Times New Roman Regular" panose="02020503050405090304" charset="0"/>
              <a:cs typeface="Times New Roman Regular" panose="02020503050405090304" charset="0"/>
            </a:endParaRPr>
          </a:p>
        </p:txBody>
      </p:sp>
      <p:sp>
        <p:nvSpPr>
          <p:cNvPr id="4" name="文本框 3"/>
          <p:cNvSpPr txBox="1"/>
          <p:nvPr/>
        </p:nvSpPr>
        <p:spPr>
          <a:xfrm>
            <a:off x="660400" y="3844925"/>
            <a:ext cx="10314940" cy="2030095"/>
          </a:xfrm>
          <a:prstGeom prst="rect">
            <a:avLst/>
          </a:prstGeom>
          <a:noFill/>
        </p:spPr>
        <p:txBody>
          <a:bodyPr wrap="square" rtlCol="0">
            <a:spAutoFit/>
          </a:bodyPr>
          <a:p>
            <a:pPr algn="ctr">
              <a:lnSpc>
                <a:spcPct val="150000"/>
              </a:lnSpc>
            </a:pPr>
            <a:r>
              <a:rPr lang="en-US" altLang="zh-CN" dirty="0">
                <a:latin typeface="Times New Roman" panose="02020603050405020304" charset="0"/>
                <a:cs typeface="Times New Roman" panose="02020603050405020304" charset="0"/>
                <a:sym typeface="+mn-ea"/>
              </a:rPr>
              <a:t>Ruiling Guo</a:t>
            </a:r>
            <a:r>
              <a:rPr lang="en-US" altLang="zh-CN" baseline="30000" dirty="0">
                <a:latin typeface="Times New Roman" panose="02020603050405020304" charset="0"/>
                <a:cs typeface="Times New Roman" panose="02020603050405020304" charset="0"/>
                <a:sym typeface="+mn-ea"/>
              </a:rPr>
              <a:t>1⋆</a:t>
            </a:r>
            <a:r>
              <a:rPr lang="en-US" altLang="zh-CN" dirty="0">
                <a:latin typeface="Times New Roman" panose="02020603050405020304" charset="0"/>
                <a:cs typeface="Times New Roman" panose="02020603050405020304" charset="0"/>
                <a:sym typeface="+mn-ea"/>
              </a:rPr>
              <a:t>  Xinwei Yang</a:t>
            </a:r>
            <a:r>
              <a:rPr lang="en-US" altLang="zh-CN" baseline="30000" dirty="0">
                <a:latin typeface="Times New Roman" panose="02020603050405020304" charset="0"/>
                <a:cs typeface="Times New Roman" panose="02020603050405020304" charset="0"/>
                <a:sym typeface="+mn-ea"/>
              </a:rPr>
              <a:t>2⋆</a:t>
            </a:r>
            <a:r>
              <a:rPr lang="en-US" altLang="zh-CN" dirty="0">
                <a:latin typeface="Times New Roman" panose="02020603050405020304" charset="0"/>
                <a:cs typeface="Times New Roman" panose="02020603050405020304" charset="0"/>
                <a:sym typeface="+mn-ea"/>
              </a:rPr>
              <a:t>  Chen Huang</a:t>
            </a:r>
            <a:r>
              <a:rPr lang="en-US" altLang="zh-CN" baseline="30000" dirty="0">
                <a:latin typeface="Times New Roman" panose="02020603050405020304" charset="0"/>
                <a:cs typeface="Times New Roman" panose="02020603050405020304" charset="0"/>
                <a:sym typeface="+mn-ea"/>
              </a:rPr>
              <a:t>23</a:t>
            </a:r>
            <a:r>
              <a:rPr lang="zh-CN" altLang="en-US" baseline="30000" dirty="0">
                <a:latin typeface="Times New Roman" panose="02020603050405020304" charset="0"/>
                <a:cs typeface="Times New Roman" panose="02020603050405020304" charset="0"/>
                <a:sym typeface="+mn-ea"/>
              </a:rPr>
              <a:t>♢</a:t>
            </a:r>
            <a:r>
              <a:rPr lang="en-US" altLang="zh-CN" dirty="0">
                <a:latin typeface="Times New Roman" panose="02020603050405020304" charset="0"/>
                <a:cs typeface="Times New Roman" panose="02020603050405020304" charset="0"/>
                <a:sym typeface="+mn-ea"/>
              </a:rPr>
              <a:t>  Tong Zhang</a:t>
            </a:r>
            <a:r>
              <a:rPr lang="en-US" altLang="zh-CN" baseline="30000" dirty="0">
                <a:latin typeface="Times New Roman" panose="02020603050405020304" charset="0"/>
                <a:cs typeface="Times New Roman" panose="02020603050405020304" charset="0"/>
                <a:sym typeface="+mn-ea"/>
              </a:rPr>
              <a:t>2</a:t>
            </a:r>
            <a:r>
              <a:rPr lang="en-US" altLang="zh-CN" dirty="0">
                <a:latin typeface="Times New Roman" panose="02020603050405020304" charset="0"/>
                <a:cs typeface="Times New Roman" panose="02020603050405020304" charset="0"/>
                <a:sym typeface="+mn-ea"/>
              </a:rPr>
              <a:t>   YongHu</a:t>
            </a:r>
            <a:r>
              <a:rPr lang="en-US" altLang="zh-CN" baseline="30000" dirty="0">
                <a:latin typeface="Times New Roman" panose="02020603050405020304" charset="0"/>
                <a:cs typeface="Times New Roman" panose="02020603050405020304" charset="0"/>
                <a:sym typeface="+mn-ea"/>
              </a:rPr>
              <a:t>1†</a:t>
            </a:r>
            <a:endParaRPr lang="en-US" altLang="zh-CN" dirty="0">
              <a:latin typeface="Times New Roman" panose="02020603050405020304" charset="0"/>
              <a:cs typeface="Times New Roman" panose="02020603050405020304" charset="0"/>
            </a:endParaRPr>
          </a:p>
          <a:p>
            <a:pPr algn="ctr">
              <a:lnSpc>
                <a:spcPct val="150000"/>
              </a:lnSpc>
            </a:pPr>
            <a:r>
              <a:rPr lang="en-US" altLang="zh-CN" dirty="0">
                <a:latin typeface="Times New Roman" panose="02020603050405020304" charset="0"/>
                <a:cs typeface="Times New Roman" panose="02020603050405020304" charset="0"/>
                <a:sym typeface="+mn-ea"/>
              </a:rPr>
              <a:t> 1.School of Cyber Science and Engineering, Sichuan University, China</a:t>
            </a:r>
            <a:endParaRPr lang="en-US" altLang="zh-CN" dirty="0">
              <a:latin typeface="Times New Roman" panose="02020603050405020304" charset="0"/>
              <a:cs typeface="Times New Roman" panose="02020603050405020304" charset="0"/>
            </a:endParaRPr>
          </a:p>
          <a:p>
            <a:pPr algn="ctr">
              <a:lnSpc>
                <a:spcPct val="150000"/>
              </a:lnSpc>
            </a:pPr>
            <a:r>
              <a:rPr lang="en-US" altLang="zh-CN" dirty="0">
                <a:latin typeface="Times New Roman" panose="02020603050405020304" charset="0"/>
                <a:cs typeface="Times New Roman" panose="02020603050405020304" charset="0"/>
                <a:sym typeface="+mn-ea"/>
              </a:rPr>
              <a:t> 2.College of Computer Science, Sichuan University, China</a:t>
            </a:r>
            <a:endParaRPr lang="en-US" altLang="zh-CN" dirty="0">
              <a:latin typeface="Times New Roman" panose="02020603050405020304" charset="0"/>
              <a:cs typeface="Times New Roman" panose="02020603050405020304" charset="0"/>
            </a:endParaRPr>
          </a:p>
          <a:p>
            <a:pPr algn="ctr">
              <a:lnSpc>
                <a:spcPct val="150000"/>
              </a:lnSpc>
            </a:pPr>
            <a:r>
              <a:rPr lang="en-US" altLang="zh-CN" dirty="0">
                <a:latin typeface="Times New Roman" panose="02020603050405020304" charset="0"/>
                <a:cs typeface="Times New Roman" panose="02020603050405020304" charset="0"/>
                <a:sym typeface="+mn-ea"/>
              </a:rPr>
              <a:t> 3.Institute of Data Science, National University of Singapore, Singapore</a:t>
            </a:r>
            <a:endParaRPr lang="en-US" altLang="zh-CN" dirty="0">
              <a:latin typeface="Times New Roman" panose="02020603050405020304" charset="0"/>
              <a:cs typeface="Times New Roman" panose="02020603050405020304" charset="0"/>
            </a:endParaRPr>
          </a:p>
          <a:p>
            <a:endParaRPr lang="zh-CN" altLang="en-US"/>
          </a:p>
        </p:txBody>
      </p:sp>
      <p:grpSp>
        <p:nvGrpSpPr>
          <p:cNvPr id="10" name="组合 9"/>
          <p:cNvGrpSpPr/>
          <p:nvPr/>
        </p:nvGrpSpPr>
        <p:grpSpPr>
          <a:xfrm>
            <a:off x="7678420" y="151130"/>
            <a:ext cx="4046220" cy="2298065"/>
            <a:chOff x="12092" y="238"/>
            <a:chExt cx="6372" cy="3619"/>
          </a:xfrm>
        </p:grpSpPr>
        <p:pic>
          <p:nvPicPr>
            <p:cNvPr id="2" name="图片 1" descr="qr-code-1759990855644"/>
            <p:cNvPicPr>
              <a:picLocks noChangeAspect="1"/>
            </p:cNvPicPr>
            <p:nvPr/>
          </p:nvPicPr>
          <p:blipFill>
            <a:blip r:embed="rId4"/>
            <a:stretch>
              <a:fillRect/>
            </a:stretch>
          </p:blipFill>
          <p:spPr>
            <a:xfrm>
              <a:off x="12092" y="238"/>
              <a:ext cx="3327" cy="3327"/>
            </a:xfrm>
            <a:prstGeom prst="rect">
              <a:avLst/>
            </a:prstGeom>
          </p:spPr>
        </p:pic>
        <p:sp>
          <p:nvSpPr>
            <p:cNvPr id="3" name="文本框 2"/>
            <p:cNvSpPr txBox="1"/>
            <p:nvPr/>
          </p:nvSpPr>
          <p:spPr>
            <a:xfrm>
              <a:off x="13047" y="3229"/>
              <a:ext cx="1416" cy="628"/>
            </a:xfrm>
            <a:prstGeom prst="rect">
              <a:avLst/>
            </a:prstGeom>
            <a:noFill/>
          </p:spPr>
          <p:txBody>
            <a:bodyPr wrap="square" rtlCol="0">
              <a:spAutoFit/>
            </a:bodyPr>
            <a:p>
              <a:r>
                <a:rPr lang="en-US" altLang="zh-CN" sz="2000" b="1">
                  <a:latin typeface="Calibri" panose="020F0502020204030204" charset="0"/>
                  <a:cs typeface="Calibri" panose="020F0502020204030204" charset="0"/>
                </a:rPr>
                <a:t>Paper</a:t>
              </a:r>
              <a:endParaRPr lang="en-US" altLang="zh-CN" sz="2000" b="1">
                <a:latin typeface="Calibri" panose="020F0502020204030204" charset="0"/>
                <a:cs typeface="Calibri" panose="020F0502020204030204" charset="0"/>
              </a:endParaRPr>
            </a:p>
          </p:txBody>
        </p:sp>
        <p:pic>
          <p:nvPicPr>
            <p:cNvPr id="6" name="图片 5"/>
            <p:cNvPicPr/>
            <p:nvPr/>
          </p:nvPicPr>
          <p:blipFill>
            <a:blip r:embed="rId5"/>
            <a:stretch>
              <a:fillRect/>
            </a:stretch>
          </p:blipFill>
          <p:spPr>
            <a:xfrm>
              <a:off x="15090" y="238"/>
              <a:ext cx="3374" cy="3328"/>
            </a:xfrm>
            <a:prstGeom prst="rect">
              <a:avLst/>
            </a:prstGeom>
          </p:spPr>
        </p:pic>
        <p:sp>
          <p:nvSpPr>
            <p:cNvPr id="8" name="文本框 7"/>
            <p:cNvSpPr txBox="1"/>
            <p:nvPr/>
          </p:nvSpPr>
          <p:spPr>
            <a:xfrm>
              <a:off x="16165" y="3229"/>
              <a:ext cx="1119" cy="628"/>
            </a:xfrm>
            <a:prstGeom prst="rect">
              <a:avLst/>
            </a:prstGeom>
            <a:noFill/>
          </p:spPr>
          <p:txBody>
            <a:bodyPr wrap="square" rtlCol="0">
              <a:spAutoFit/>
            </a:bodyPr>
            <a:p>
              <a:r>
                <a:rPr lang="en-US" altLang="zh-CN" sz="2000" b="1">
                  <a:latin typeface="Calibri" panose="020F0502020204030204" charset="0"/>
                  <a:cs typeface="Calibri" panose="020F0502020204030204" charset="0"/>
                </a:rPr>
                <a:t>Data</a:t>
              </a:r>
              <a:endParaRPr lang="en-US" altLang="zh-CN" sz="2000" b="1">
                <a:latin typeface="Calibri" panose="020F0502020204030204" charset="0"/>
                <a:cs typeface="Calibri" panose="020F0502020204030204" charset="0"/>
              </a:endParaRPr>
            </a:p>
          </p:txBody>
        </p:sp>
      </p:grpSp>
      <p:pic>
        <p:nvPicPr>
          <p:cNvPr id="11" name="20251009_220612">
            <a:hlinkClick r:id="" action="ppaction://media"/>
          </p:cNvPr>
          <p:cNvPicPr/>
          <p:nvPr>
            <a:audioFile r:link="rId6"/>
            <p:extLst>
              <p:ext uri="{DAA4B4D4-6D71-4841-9C94-3DE7FCFB9230}">
                <p14:media xmlns:p14="http://schemas.microsoft.com/office/powerpoint/2010/main" r:embed="rId7"/>
              </p:ext>
            </p:extLst>
          </p:nvPr>
        </p:nvPicPr>
        <p:blipFill>
          <a:blip r:embed="rId8"/>
          <a:stretch>
            <a:fillRect/>
          </a:stretch>
        </p:blipFill>
        <p:spPr>
          <a:xfrm>
            <a:off x="10975340" y="5959475"/>
            <a:ext cx="309880" cy="309880"/>
          </a:xfrm>
          <a:prstGeom prst="rect">
            <a:avLst/>
          </a:prstGeom>
        </p:spPr>
      </p:pic>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1065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11"/>
                </p:tgtEl>
              </p:cMediaNode>
            </p:audio>
          </p:childTnLst>
        </p:cTn>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3628</Words>
  <Application>WPS 演示</Application>
  <PresentationFormat>宽屏</PresentationFormat>
  <Paragraphs>77</Paragraphs>
  <Slides>13</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Arial</vt:lpstr>
      <vt:lpstr>宋体</vt:lpstr>
      <vt:lpstr>Wingdings</vt:lpstr>
      <vt:lpstr>Wingdings</vt:lpstr>
      <vt:lpstr>Times New Roman Regular</vt:lpstr>
      <vt:lpstr>Times New Roman</vt:lpstr>
      <vt:lpstr>微软雅黑</vt:lpstr>
      <vt:lpstr>Cambria Math</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郭睿玲</cp:lastModifiedBy>
  <cp:revision>176</cp:revision>
  <dcterms:created xsi:type="dcterms:W3CDTF">2025-10-09T03:18:00Z</dcterms:created>
  <dcterms:modified xsi:type="dcterms:W3CDTF">2025-10-09T14:22:09Z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2052-12.1.0.21541</vt:lpwstr>
  </property>
  <property fmtid="{D5CDD505-2E9C-101B-9397-08002B2CF9AE}" pid="3" name="ICV">
    <vt:lpwstr>0C0837903EB54E78AF42873E526CFCA4_12</vt:lpwstr>
  </property>
</Properties>
</file>