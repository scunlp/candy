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30274895" cy="43164125"/>
  <p:notesSz cx="9144000" cy="6858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594" userDrawn="1">
          <p15:clr>
            <a:srgbClr val="A4A3A4"/>
          </p15:clr>
        </p15:guide>
        <p15:guide id="2" pos="95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2F2F2"/>
    <a:srgbClr val="9F2925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84353" autoAdjust="0"/>
  </p:normalViewPr>
  <p:slideViewPr>
    <p:cSldViewPr snapToGrid="0" showGuides="1">
      <p:cViewPr>
        <p:scale>
          <a:sx n="25" d="100"/>
          <a:sy n="25" d="100"/>
        </p:scale>
        <p:origin x="752" y="-3444"/>
      </p:cViewPr>
      <p:guideLst>
        <p:guide orient="horz" pos="13594"/>
        <p:guide pos="95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26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3BABE-D7FE-41AA-96E5-09EB03BE5B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760788" y="857250"/>
            <a:ext cx="16224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4F83F-943F-4DAF-A47C-FA3D34D6AA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4F83F-943F-4DAF-A47C-FA3D34D6AA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64132"/>
            <a:ext cx="25733931" cy="15027510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671161"/>
            <a:ext cx="22706410" cy="10421335"/>
          </a:xfrm>
        </p:spPr>
        <p:txBody>
          <a:bodyPr/>
          <a:lstStyle>
            <a:lvl1pPr marL="0" indent="0" algn="ctr">
              <a:buNone/>
              <a:defRPr sz="7945"/>
            </a:lvl1pPr>
            <a:lvl2pPr marL="1513840" indent="0" algn="ctr">
              <a:buNone/>
              <a:defRPr sz="6620"/>
            </a:lvl2pPr>
            <a:lvl3pPr marL="3027680" indent="0" algn="ctr">
              <a:buNone/>
              <a:defRPr sz="5960"/>
            </a:lvl3pPr>
            <a:lvl4pPr marL="4541520" indent="0" algn="ctr">
              <a:buNone/>
              <a:defRPr sz="5295"/>
            </a:lvl4pPr>
            <a:lvl5pPr marL="6054725" indent="0" algn="ctr">
              <a:buNone/>
              <a:defRPr sz="5295"/>
            </a:lvl5pPr>
            <a:lvl6pPr marL="7568565" indent="0" algn="ctr">
              <a:buNone/>
              <a:defRPr sz="5295"/>
            </a:lvl6pPr>
            <a:lvl7pPr marL="9082405" indent="0" algn="ctr">
              <a:buNone/>
              <a:defRPr sz="5295"/>
            </a:lvl7pPr>
            <a:lvl8pPr marL="10596245" indent="0" algn="ctr">
              <a:buNone/>
              <a:defRPr sz="5295"/>
            </a:lvl8pPr>
            <a:lvl9pPr marL="12110085" indent="0" algn="ctr">
              <a:buNone/>
              <a:defRPr sz="529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761069"/>
            <a:ext cx="26112371" cy="17955074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886005"/>
            <a:ext cx="26112371" cy="9442149"/>
          </a:xfrm>
        </p:spPr>
        <p:txBody>
          <a:bodyPr/>
          <a:lstStyle>
            <a:lvl1pPr marL="0" indent="0">
              <a:buNone/>
              <a:defRPr sz="7945">
                <a:solidFill>
                  <a:schemeClr val="tx1"/>
                </a:solidFill>
              </a:defRPr>
            </a:lvl1pPr>
            <a:lvl2pPr marL="1513840" indent="0">
              <a:buNone/>
              <a:defRPr sz="6620">
                <a:solidFill>
                  <a:schemeClr val="tx1">
                    <a:tint val="75000"/>
                  </a:schemeClr>
                </a:solidFill>
              </a:defRPr>
            </a:lvl2pPr>
            <a:lvl3pPr marL="3027680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520" indent="0">
              <a:buNone/>
              <a:defRPr sz="5295">
                <a:solidFill>
                  <a:schemeClr val="tx1">
                    <a:tint val="75000"/>
                  </a:schemeClr>
                </a:solidFill>
              </a:defRPr>
            </a:lvl4pPr>
            <a:lvl5pPr marL="6054725" indent="0">
              <a:buNone/>
              <a:defRPr sz="5295">
                <a:solidFill>
                  <a:schemeClr val="tx1">
                    <a:tint val="75000"/>
                  </a:schemeClr>
                </a:solidFill>
              </a:defRPr>
            </a:lvl5pPr>
            <a:lvl6pPr marL="7568565" indent="0">
              <a:buNone/>
              <a:defRPr sz="5295">
                <a:solidFill>
                  <a:schemeClr val="tx1">
                    <a:tint val="75000"/>
                  </a:schemeClr>
                </a:solidFill>
              </a:defRPr>
            </a:lvl6pPr>
            <a:lvl7pPr marL="9082405" indent="0">
              <a:buNone/>
              <a:defRPr sz="5295">
                <a:solidFill>
                  <a:schemeClr val="tx1">
                    <a:tint val="75000"/>
                  </a:schemeClr>
                </a:solidFill>
              </a:defRPr>
            </a:lvl7pPr>
            <a:lvl8pPr marL="10596245" indent="0">
              <a:buNone/>
              <a:defRPr sz="5295">
                <a:solidFill>
                  <a:schemeClr val="tx1">
                    <a:tint val="75000"/>
                  </a:schemeClr>
                </a:solidFill>
              </a:defRPr>
            </a:lvl8pPr>
            <a:lvl9pPr marL="12110085" indent="0">
              <a:buNone/>
              <a:defRPr sz="52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490450"/>
            <a:ext cx="12866966" cy="273872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490450"/>
            <a:ext cx="12866966" cy="273872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98099"/>
            <a:ext cx="26112371" cy="834306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581209"/>
            <a:ext cx="12807832" cy="5185687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840" indent="0">
              <a:buNone/>
              <a:defRPr sz="6620" b="1"/>
            </a:lvl2pPr>
            <a:lvl3pPr marL="3027680" indent="0">
              <a:buNone/>
              <a:defRPr sz="5960" b="1"/>
            </a:lvl3pPr>
            <a:lvl4pPr marL="4541520" indent="0">
              <a:buNone/>
              <a:defRPr sz="5295" b="1"/>
            </a:lvl4pPr>
            <a:lvl5pPr marL="6054725" indent="0">
              <a:buNone/>
              <a:defRPr sz="5295" b="1"/>
            </a:lvl5pPr>
            <a:lvl6pPr marL="7568565" indent="0">
              <a:buNone/>
              <a:defRPr sz="5295" b="1"/>
            </a:lvl6pPr>
            <a:lvl7pPr marL="9082405" indent="0">
              <a:buNone/>
              <a:defRPr sz="5295" b="1"/>
            </a:lvl7pPr>
            <a:lvl8pPr marL="10596245" indent="0">
              <a:buNone/>
              <a:defRPr sz="5295" b="1"/>
            </a:lvl8pPr>
            <a:lvl9pPr marL="12110085" indent="0">
              <a:buNone/>
              <a:defRPr sz="529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766895"/>
            <a:ext cx="12807832" cy="231907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581209"/>
            <a:ext cx="12870909" cy="5185687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840" indent="0">
              <a:buNone/>
              <a:defRPr sz="6620" b="1"/>
            </a:lvl2pPr>
            <a:lvl3pPr marL="3027680" indent="0">
              <a:buNone/>
              <a:defRPr sz="5960" b="1"/>
            </a:lvl3pPr>
            <a:lvl4pPr marL="4541520" indent="0">
              <a:buNone/>
              <a:defRPr sz="5295" b="1"/>
            </a:lvl4pPr>
            <a:lvl5pPr marL="6054725" indent="0">
              <a:buNone/>
              <a:defRPr sz="5295" b="1"/>
            </a:lvl5pPr>
            <a:lvl6pPr marL="7568565" indent="0">
              <a:buNone/>
              <a:defRPr sz="5295" b="1"/>
            </a:lvl6pPr>
            <a:lvl7pPr marL="9082405" indent="0">
              <a:buNone/>
              <a:defRPr sz="5295" b="1"/>
            </a:lvl7pPr>
            <a:lvl8pPr marL="10596245" indent="0">
              <a:buNone/>
              <a:defRPr sz="5295" b="1"/>
            </a:lvl8pPr>
            <a:lvl9pPr marL="12110085" indent="0">
              <a:buNone/>
              <a:defRPr sz="529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766895"/>
            <a:ext cx="12870909" cy="231907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77608"/>
            <a:ext cx="9764544" cy="10071629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214844"/>
            <a:ext cx="15326827" cy="30674505"/>
          </a:xfrm>
        </p:spPr>
        <p:txBody>
          <a:bodyPr/>
          <a:lstStyle>
            <a:lvl1pPr>
              <a:defRPr sz="10595"/>
            </a:lvl1pPr>
            <a:lvl2pPr>
              <a:defRPr sz="9270"/>
            </a:lvl2pPr>
            <a:lvl3pPr>
              <a:defRPr sz="7945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949238"/>
            <a:ext cx="9764544" cy="23990064"/>
          </a:xfrm>
        </p:spPr>
        <p:txBody>
          <a:bodyPr/>
          <a:lstStyle>
            <a:lvl1pPr marL="0" indent="0">
              <a:buNone/>
              <a:defRPr sz="5295"/>
            </a:lvl1pPr>
            <a:lvl2pPr marL="1513840" indent="0">
              <a:buNone/>
              <a:defRPr sz="4635"/>
            </a:lvl2pPr>
            <a:lvl3pPr marL="3027680" indent="0">
              <a:buNone/>
              <a:defRPr sz="3975"/>
            </a:lvl3pPr>
            <a:lvl4pPr marL="4541520" indent="0">
              <a:buNone/>
              <a:defRPr sz="3310"/>
            </a:lvl4pPr>
            <a:lvl5pPr marL="6054725" indent="0">
              <a:buNone/>
              <a:defRPr sz="3310"/>
            </a:lvl5pPr>
            <a:lvl6pPr marL="7568565" indent="0">
              <a:buNone/>
              <a:defRPr sz="3310"/>
            </a:lvl6pPr>
            <a:lvl7pPr marL="9082405" indent="0">
              <a:buNone/>
              <a:defRPr sz="3310"/>
            </a:lvl7pPr>
            <a:lvl8pPr marL="10596245" indent="0">
              <a:buNone/>
              <a:defRPr sz="3310"/>
            </a:lvl8pPr>
            <a:lvl9pPr marL="12110085" indent="0">
              <a:buNone/>
              <a:defRPr sz="331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77608"/>
            <a:ext cx="9764544" cy="10071629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214844"/>
            <a:ext cx="15326827" cy="3067450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840" indent="0">
              <a:buNone/>
              <a:defRPr sz="9270"/>
            </a:lvl2pPr>
            <a:lvl3pPr marL="3027680" indent="0">
              <a:buNone/>
              <a:defRPr sz="7945"/>
            </a:lvl3pPr>
            <a:lvl4pPr marL="4541520" indent="0">
              <a:buNone/>
              <a:defRPr sz="6620"/>
            </a:lvl4pPr>
            <a:lvl5pPr marL="6054725" indent="0">
              <a:buNone/>
              <a:defRPr sz="6620"/>
            </a:lvl5pPr>
            <a:lvl6pPr marL="7568565" indent="0">
              <a:buNone/>
              <a:defRPr sz="6620"/>
            </a:lvl6pPr>
            <a:lvl7pPr marL="9082405" indent="0">
              <a:buNone/>
              <a:defRPr sz="6620"/>
            </a:lvl7pPr>
            <a:lvl8pPr marL="10596245" indent="0">
              <a:buNone/>
              <a:defRPr sz="6620"/>
            </a:lvl8pPr>
            <a:lvl9pPr marL="12110085" indent="0">
              <a:buNone/>
              <a:defRPr sz="662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949238"/>
            <a:ext cx="9764544" cy="23990064"/>
          </a:xfrm>
        </p:spPr>
        <p:txBody>
          <a:bodyPr/>
          <a:lstStyle>
            <a:lvl1pPr marL="0" indent="0">
              <a:buNone/>
              <a:defRPr sz="5295"/>
            </a:lvl1pPr>
            <a:lvl2pPr marL="1513840" indent="0">
              <a:buNone/>
              <a:defRPr sz="4635"/>
            </a:lvl2pPr>
            <a:lvl3pPr marL="3027680" indent="0">
              <a:buNone/>
              <a:defRPr sz="3975"/>
            </a:lvl3pPr>
            <a:lvl4pPr marL="4541520" indent="0">
              <a:buNone/>
              <a:defRPr sz="3310"/>
            </a:lvl4pPr>
            <a:lvl5pPr marL="6054725" indent="0">
              <a:buNone/>
              <a:defRPr sz="3310"/>
            </a:lvl5pPr>
            <a:lvl6pPr marL="7568565" indent="0">
              <a:buNone/>
              <a:defRPr sz="3310"/>
            </a:lvl6pPr>
            <a:lvl7pPr marL="9082405" indent="0">
              <a:buNone/>
              <a:defRPr sz="3310"/>
            </a:lvl7pPr>
            <a:lvl8pPr marL="10596245" indent="0">
              <a:buNone/>
              <a:defRPr sz="3310"/>
            </a:lvl8pPr>
            <a:lvl9pPr marL="12110085" indent="0">
              <a:buNone/>
              <a:defRPr sz="331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98090"/>
            <a:ext cx="6528093" cy="36579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98090"/>
            <a:ext cx="19205838" cy="36579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510863" y="9790550"/>
            <a:ext cx="12995503" cy="290090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53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5770194" y="9790550"/>
            <a:ext cx="12980908" cy="290090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53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510864" y="4872612"/>
            <a:ext cx="27249179" cy="3451622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977027" y="15637685"/>
            <a:ext cx="24334733" cy="641371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9865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2977027" y="22414014"/>
            <a:ext cx="24334733" cy="296889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794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98099"/>
            <a:ext cx="26112371" cy="8343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490450"/>
            <a:ext cx="26112371" cy="27387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40006759"/>
            <a:ext cx="6811923" cy="2298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40006759"/>
            <a:ext cx="10217884" cy="2298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40006759"/>
            <a:ext cx="6811923" cy="2298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3027680" rtl="0" eaLnBrk="1" latinLnBrk="0" hangingPunct="1">
        <a:lnSpc>
          <a:spcPct val="90000"/>
        </a:lnSpc>
        <a:spcBef>
          <a:spcPct val="0"/>
        </a:spcBef>
        <a:buNone/>
        <a:defRPr sz="145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920" indent="-756920" algn="l" defTabSz="3027680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70" kern="1200">
          <a:solidFill>
            <a:schemeClr val="tx1"/>
          </a:solidFill>
          <a:latin typeface="+mn-lt"/>
          <a:ea typeface="+mn-ea"/>
          <a:cs typeface="+mn-cs"/>
        </a:defRPr>
      </a:lvl1pPr>
      <a:lvl2pPr marL="2270760" indent="-756920" algn="l" defTabSz="302768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5" kern="1200">
          <a:solidFill>
            <a:schemeClr val="tx1"/>
          </a:solidFill>
          <a:latin typeface="+mn-lt"/>
          <a:ea typeface="+mn-ea"/>
          <a:cs typeface="+mn-cs"/>
        </a:defRPr>
      </a:lvl2pPr>
      <a:lvl3pPr marL="3784600" indent="-756920" algn="l" defTabSz="302768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7805" indent="-756920" algn="l" defTabSz="302768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645" indent="-756920" algn="l" defTabSz="302768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485" indent="-756920" algn="l" defTabSz="302768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25" indent="-756920" algn="l" defTabSz="302768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165" indent="-756920" algn="l" defTabSz="302768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7005" indent="-756920" algn="l" defTabSz="302768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680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840" algn="l" defTabSz="3027680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680" algn="l" defTabSz="3027680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520" algn="l" defTabSz="3027680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725" algn="l" defTabSz="3027680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565" algn="l" defTabSz="3027680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05" algn="l" defTabSz="3027680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45" algn="l" defTabSz="3027680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10085" algn="l" defTabSz="3027680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image" Target="../media/image1.png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4" Type="http://schemas.openxmlformats.org/officeDocument/2006/relationships/notesSlide" Target="../notesSlides/notesSlide1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25.xml"/><Relationship Id="rId21" Type="http://schemas.openxmlformats.org/officeDocument/2006/relationships/image" Target="../media/image12.png"/><Relationship Id="rId20" Type="http://schemas.openxmlformats.org/officeDocument/2006/relationships/image" Target="../media/image11.png"/><Relationship Id="rId2" Type="http://schemas.openxmlformats.org/officeDocument/2006/relationships/tags" Target="../tags/tag17.xml"/><Relationship Id="rId19" Type="http://schemas.openxmlformats.org/officeDocument/2006/relationships/image" Target="../media/image10.png"/><Relationship Id="rId18" Type="http://schemas.openxmlformats.org/officeDocument/2006/relationships/image" Target="../media/image9.png"/><Relationship Id="rId17" Type="http://schemas.openxmlformats.org/officeDocument/2006/relationships/image" Target="../media/image8.png"/><Relationship Id="rId16" Type="http://schemas.openxmlformats.org/officeDocument/2006/relationships/image" Target="../media/image7.png"/><Relationship Id="rId15" Type="http://schemas.openxmlformats.org/officeDocument/2006/relationships/image" Target="../media/image6.png"/><Relationship Id="rId14" Type="http://schemas.openxmlformats.org/officeDocument/2006/relationships/image" Target="../media/image5.png"/><Relationship Id="rId13" Type="http://schemas.openxmlformats.org/officeDocument/2006/relationships/image" Target="../media/image4.png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tags" Target="../tags/tag24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矩形: 圆角 1545"/>
          <p:cNvSpPr/>
          <p:nvPr/>
        </p:nvSpPr>
        <p:spPr>
          <a:xfrm>
            <a:off x="1584325" y="10621645"/>
            <a:ext cx="13689965" cy="655637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244600" y="9117330"/>
            <a:ext cx="14318615" cy="12261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>
                <a:latin typeface="Cambria" panose="02040503050406030204" charset="0"/>
                <a:cs typeface="Cambria" panose="02040503050406030204" charset="0"/>
              </a:rPr>
              <a:t> Chinese Misinformation Fact-Checking</a:t>
            </a:r>
            <a:endParaRPr lang="en-US" altLang="zh-CN" sz="54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43965" y="9123680"/>
            <a:ext cx="14319885" cy="8348345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0" name="文本框 1539"/>
          <p:cNvSpPr txBox="1"/>
          <p:nvPr/>
        </p:nvSpPr>
        <p:spPr>
          <a:xfrm>
            <a:off x="1584325" y="10617835"/>
            <a:ext cx="13689965" cy="66097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 indent="-457200">
              <a:buFont typeface="Cambria Math" panose="02040503050406030204" pitchFamily="18" charset="0"/>
              <a:buChar char="◉"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Background: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Cambria Math" panose="02040503050406030204" pitchFamily="18" charset="0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 the largest Internet user base, China produces vast amounts of misinformation daily, making manual verification both labor-intensive and increasingly infeasible.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Cambria Math" panose="02040503050406030204" pitchFamily="18" charset="0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 Large language models (LLMs) possess extensive knowledge and explanatory capabilities, positioning them as promising tools for misinformation detection.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Cambria Math" panose="02040503050406030204" pitchFamily="18" charset="0"/>
              <a:buNone/>
            </a:pP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indent="-457200">
              <a:buFont typeface="Cambria Math" panose="02040503050406030204" pitchFamily="18" charset="0"/>
              <a:buChar char="◉"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Motivation: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Cambria Math" panose="02040503050406030204" pitchFamily="18" charset="0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Current evaluations mostly check factual correctness of final answers, overlooking LLMs’ characteristics and reasoning, leaving unclear which misinformation types they can detect and what challenges persist.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Cambria Math" panose="02040503050406030204" pitchFamily="18" charset="0"/>
              <a:buNone/>
            </a:pP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indent="-457200">
              <a:buFont typeface="Cambria Math" panose="02040503050406030204" pitchFamily="18" charset="0"/>
              <a:buChar char="◉"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Our Work: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 introduce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CANDY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a benchmark designed to systematically evaluate the capabilities, limitations, and practical roles of LLMs in fact checking Chinese misinformation.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ambria Math" panose="02040503050406030204" pitchFamily="18" charset="0"/>
              <a:buChar char="◉"/>
            </a:pPr>
            <a:endParaRPr lang="en-US" altLang="zh-CN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1" name="文本框 1570"/>
          <p:cNvSpPr txBox="1"/>
          <p:nvPr>
            <p:custDataLst>
              <p:tags r:id="rId1"/>
            </p:custDataLst>
          </p:nvPr>
        </p:nvSpPr>
        <p:spPr>
          <a:xfrm>
            <a:off x="1076960" y="3019425"/>
            <a:ext cx="28051125" cy="1927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/>
            <a:r>
              <a:rPr lang="en-US" altLang="zh-CN" sz="6000" b="1" spc="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CANDY:Benchmarking LLMs’ Limitations and Assistive Potential in</a:t>
            </a:r>
            <a:endParaRPr lang="en-US" altLang="zh-CN" sz="6000" b="1" spc="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lvl="0" algn="ctr"/>
            <a:r>
              <a:rPr lang="en-US" altLang="zh-CN" sz="6000" b="1" spc="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Chinese Misinformation Fact-Checking</a:t>
            </a:r>
            <a:endParaRPr lang="en-US" altLang="zh-CN" sz="6000" b="1" spc="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4986655"/>
            <a:ext cx="30275530" cy="2712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Ruiling Guo</a:t>
            </a:r>
            <a:r>
              <a:rPr lang="en-US" altLang="zh-CN" sz="4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1⋆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Xinwei Yang</a:t>
            </a:r>
            <a:r>
              <a:rPr lang="en-US" altLang="zh-CN" sz="4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2⋆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Chen Huang</a:t>
            </a:r>
            <a:r>
              <a:rPr lang="en-US" altLang="zh-CN" sz="4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zh-CN" altLang="en-US" sz="4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♢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Tong Zhang</a:t>
            </a:r>
            <a:r>
              <a:rPr lang="en-US" altLang="zh-CN" sz="4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YongHu</a:t>
            </a:r>
            <a:r>
              <a:rPr lang="en-US" altLang="zh-CN" sz="4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1†</a:t>
            </a:r>
            <a:endParaRPr lang="en-US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1.School of Cyber Science and Engineering, Sichuan University, China</a:t>
            </a:r>
            <a:endParaRPr lang="en-US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2.College of Computer Science, Sichuan University, China</a:t>
            </a:r>
            <a:endParaRPr lang="en-US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3.Institute of Data Science, National University of Singapore, Singapore</a:t>
            </a:r>
            <a:endParaRPr lang="en-US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16194405" y="9100820"/>
            <a:ext cx="12765405" cy="8370570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244600" y="17910175"/>
            <a:ext cx="27715845" cy="11732260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244601" y="30588240"/>
            <a:ext cx="27715845" cy="11175868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0412" y="367968"/>
            <a:ext cx="6720727" cy="1940431"/>
          </a:xfrm>
          <a:prstGeom prst="rect">
            <a:avLst/>
          </a:prstGeom>
        </p:spPr>
      </p:pic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16195040" y="9100820"/>
            <a:ext cx="12764135" cy="12261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  <a:sym typeface="+mn-ea"/>
              </a:rPr>
              <a:t>CANDYSET: </a:t>
            </a:r>
            <a:r>
              <a:rPr lang="en-US" altLang="zh-CN" sz="5400" dirty="0">
                <a:latin typeface="Cambria" panose="02040503050406030204" charset="0"/>
                <a:cs typeface="Cambria" panose="02040503050406030204" charset="0"/>
              </a:rPr>
              <a:t>Benchmark Dataset</a:t>
            </a:r>
            <a:endParaRPr lang="en-US" altLang="zh-CN" sz="54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1244600" y="17910175"/>
            <a:ext cx="27715210" cy="11976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latin typeface="Cambria" panose="02040503050406030204" charset="0"/>
                <a:cs typeface="Cambria" panose="02040503050406030204" charset="0"/>
              </a:rPr>
              <a:t>Task 1: Fact-Checking Conclusion</a:t>
            </a:r>
            <a:endParaRPr lang="en-US" altLang="zh-CN" sz="6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1243965" y="29978641"/>
            <a:ext cx="27715210" cy="12261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latin typeface="Cambria" panose="02040503050406030204" charset="0"/>
                <a:cs typeface="Cambria" panose="02040503050406030204" charset="0"/>
                <a:sym typeface="+mn-ea"/>
              </a:rPr>
              <a:t>Task 2: Fact-Checking Conclusion / Task 3: LLM-Assisted Fact-Checking </a:t>
            </a:r>
            <a:endParaRPr lang="en-US" altLang="zh-CN" sz="6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539" name="Bullet"/>
          <p:cNvSpPr/>
          <p:nvPr/>
        </p:nvSpPr>
        <p:spPr>
          <a:xfrm>
            <a:off x="1243964" y="10621481"/>
            <a:ext cx="13495655" cy="995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Autofit/>
          </a:bodyPr>
          <a:lstStyle/>
          <a:p>
            <a:pPr algn="ctr"/>
            <a:endParaRPr kumimoji="1"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682" name="矩形 1681"/>
          <p:cNvSpPr/>
          <p:nvPr/>
        </p:nvSpPr>
        <p:spPr>
          <a:xfrm>
            <a:off x="20801330" y="33943290"/>
            <a:ext cx="8047990" cy="2914015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mbria Math" panose="02040503050406030204" pitchFamily="18" charset="0"/>
              <a:buNone/>
              <a:defRPr/>
            </a:pPr>
            <a:endParaRPr lang="zh-CN" altLang="en-US" dirty="0"/>
          </a:p>
        </p:txBody>
      </p:sp>
      <p:sp>
        <p:nvSpPr>
          <p:cNvPr id="1542" name="矩形 1541"/>
          <p:cNvSpPr/>
          <p:nvPr/>
        </p:nvSpPr>
        <p:spPr>
          <a:xfrm>
            <a:off x="1478280" y="31349950"/>
            <a:ext cx="8948420" cy="10348595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9796362" y="20289580"/>
            <a:ext cx="12700" cy="91960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20170140" y="19212560"/>
            <a:ext cx="8790305" cy="777240"/>
            <a:chOff x="4750633" y="19386019"/>
            <a:chExt cx="8790305" cy="1067443"/>
          </a:xfrm>
        </p:grpSpPr>
        <p:sp>
          <p:nvSpPr>
            <p:cNvPr id="16" name="矩形: 圆角 1070"/>
            <p:cNvSpPr/>
            <p:nvPr/>
          </p:nvSpPr>
          <p:spPr>
            <a:xfrm>
              <a:off x="4750633" y="19386019"/>
              <a:ext cx="8696325" cy="1067443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844613" y="19457453"/>
              <a:ext cx="8696325" cy="868566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mbria" panose="02040503050406030204" charset="0"/>
                  <a:ea typeface="微软雅黑" panose="020B0503020204020204" charset="-122"/>
                  <a:cs typeface="Cambria" panose="02040503050406030204" charset="0"/>
                </a:rPr>
                <a:t>Overconfidence Shortcoming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</a:endParaRPr>
            </a:p>
          </p:txBody>
        </p:sp>
      </p:grpSp>
      <p:sp>
        <p:nvSpPr>
          <p:cNvPr id="57" name="文本框 56"/>
          <p:cNvSpPr txBox="1"/>
          <p:nvPr/>
        </p:nvSpPr>
        <p:spPr>
          <a:xfrm>
            <a:off x="20800695" y="34101405"/>
            <a:ext cx="7959090" cy="275526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indent="0">
              <a:buFont typeface="Cambria Math" panose="02040503050406030204" pitchFamily="18" charset="0"/>
              <a:buNone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independent human judgment; </a:t>
            </a:r>
            <a:endParaRPr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Cambria Math" panose="02040503050406030204" pitchFamily="18" charset="0"/>
              <a:buNone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human judgment assisted by internet search (Baidu);</a:t>
            </a:r>
            <a:endParaRPr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Cambria Math" panose="02040503050406030204" pitchFamily="18" charset="0"/>
              <a:buNone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human judgment assisted by an LLM (GPT-4o); </a:t>
            </a:r>
            <a:endParaRPr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Cambria Math" panose="02040503050406030204" pitchFamily="18" charset="0"/>
              <a:buNone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human judgment assisted by GPT-4o with web-augmented retrieval;</a:t>
            </a:r>
            <a:endParaRPr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960" y="570230"/>
            <a:ext cx="9641205" cy="1737360"/>
          </a:xfrm>
          <a:prstGeom prst="rect">
            <a:avLst/>
          </a:prstGeom>
        </p:spPr>
      </p:pic>
      <p:pic>
        <p:nvPicPr>
          <p:cNvPr id="23" name="图片 22" descr="截图20251008221437"/>
          <p:cNvPicPr>
            <a:picLocks noChangeAspect="1"/>
          </p:cNvPicPr>
          <p:nvPr/>
        </p:nvPicPr>
        <p:blipFill>
          <a:blip r:embed="rId12"/>
          <a:srcRect b="31294"/>
          <a:stretch>
            <a:fillRect/>
          </a:stretch>
        </p:blipFill>
        <p:spPr>
          <a:xfrm>
            <a:off x="16692245" y="10377170"/>
            <a:ext cx="11285855" cy="7055485"/>
          </a:xfrm>
          <a:prstGeom prst="rect">
            <a:avLst/>
          </a:prstGeom>
        </p:spPr>
      </p:pic>
      <p:pic>
        <p:nvPicPr>
          <p:cNvPr id="26" name="图片 25" descr="截图202510082216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48180" y="20146645"/>
            <a:ext cx="17414875" cy="9404985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3682426" y="19258352"/>
            <a:ext cx="12245975" cy="886460"/>
            <a:chOff x="2389703" y="19386019"/>
            <a:chExt cx="12245975" cy="886460"/>
          </a:xfrm>
        </p:grpSpPr>
        <p:sp>
          <p:nvSpPr>
            <p:cNvPr id="29" name="矩形: 圆角 1070"/>
            <p:cNvSpPr/>
            <p:nvPr/>
          </p:nvSpPr>
          <p:spPr>
            <a:xfrm>
              <a:off x="3318708" y="19386019"/>
              <a:ext cx="10128250" cy="88646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389703" y="19506034"/>
              <a:ext cx="12245975" cy="645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mbria" panose="02040503050406030204" charset="0"/>
                  <a:ea typeface="微软雅黑" panose="020B0503020204020204" charset="-122"/>
                  <a:cs typeface="Cambria" panose="02040503050406030204" charset="0"/>
                </a:rPr>
                <a:t>Fact-checking conclusion performance (%)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</a:endParaRPr>
            </a:p>
          </p:txBody>
        </p:sp>
      </p:grpSp>
      <p:pic>
        <p:nvPicPr>
          <p:cNvPr id="34" name="图片 33" descr="截图2025100822230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801330" y="20008215"/>
            <a:ext cx="7567295" cy="4411980"/>
          </a:xfrm>
          <a:prstGeom prst="rect">
            <a:avLst/>
          </a:prstGeom>
        </p:spPr>
      </p:pic>
      <p:pic>
        <p:nvPicPr>
          <p:cNvPr id="42" name="图片 41" descr="截图202510082224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597495" y="25227280"/>
            <a:ext cx="7951470" cy="4313555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20984845" y="24465280"/>
            <a:ext cx="7564120" cy="784225"/>
            <a:chOff x="4750633" y="19386019"/>
            <a:chExt cx="8696325" cy="886424"/>
          </a:xfrm>
        </p:grpSpPr>
        <p:sp>
          <p:nvSpPr>
            <p:cNvPr id="44" name="矩形: 圆角 1070"/>
            <p:cNvSpPr/>
            <p:nvPr/>
          </p:nvSpPr>
          <p:spPr>
            <a:xfrm>
              <a:off x="4750633" y="19386019"/>
              <a:ext cx="8696325" cy="88642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4750633" y="19506066"/>
              <a:ext cx="8696325" cy="7292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mbria" panose="02040503050406030204" charset="0"/>
                  <a:ea typeface="微软雅黑" panose="020B0503020204020204" charset="-122"/>
                  <a:cs typeface="Cambria" panose="02040503050406030204" charset="0"/>
                </a:rPr>
                <a:t>Dectection Bias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</a:endParaRPr>
            </a:p>
          </p:txBody>
        </p:sp>
      </p:grpSp>
      <p:pic>
        <p:nvPicPr>
          <p:cNvPr id="47" name="图片 46" descr="截图2025100822440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84325" y="32470725"/>
            <a:ext cx="8561705" cy="9158605"/>
          </a:xfrm>
          <a:prstGeom prst="rect">
            <a:avLst/>
          </a:prstGeom>
        </p:spPr>
      </p:pic>
      <p:grpSp>
        <p:nvGrpSpPr>
          <p:cNvPr id="48" name="组合 47"/>
          <p:cNvGrpSpPr/>
          <p:nvPr/>
        </p:nvGrpSpPr>
        <p:grpSpPr>
          <a:xfrm>
            <a:off x="1137920" y="31540450"/>
            <a:ext cx="9629140" cy="784225"/>
            <a:chOff x="3819092" y="20811475"/>
            <a:chExt cx="11070439" cy="886424"/>
          </a:xfrm>
        </p:grpSpPr>
        <p:sp>
          <p:nvSpPr>
            <p:cNvPr id="49" name="矩形: 圆角 1070"/>
            <p:cNvSpPr/>
            <p:nvPr/>
          </p:nvSpPr>
          <p:spPr>
            <a:xfrm>
              <a:off x="4379768" y="20811475"/>
              <a:ext cx="10042532" cy="88642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3819092" y="20926315"/>
              <a:ext cx="11070439" cy="7292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mbria" panose="02040503050406030204" charset="0"/>
                  <a:ea typeface="微软雅黑" panose="020B0503020204020204" charset="-122"/>
                  <a:cs typeface="Cambria" panose="02040503050406030204" charset="0"/>
                </a:rPr>
                <a:t>Taxonomy for Fact-checking Explanation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</a:endParaRPr>
            </a:p>
          </p:txBody>
        </p:sp>
      </p:grpSp>
      <p:pic>
        <p:nvPicPr>
          <p:cNvPr id="51" name="图片 50" descr="截图2025100822484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89995" y="32070675"/>
            <a:ext cx="8768715" cy="518160"/>
          </a:xfrm>
          <a:prstGeom prst="rect">
            <a:avLst/>
          </a:prstGeom>
        </p:spPr>
      </p:pic>
      <p:pic>
        <p:nvPicPr>
          <p:cNvPr id="52" name="图片 51" descr="截图20251008224943"/>
          <p:cNvPicPr>
            <a:picLocks noChangeAspect="1"/>
          </p:cNvPicPr>
          <p:nvPr/>
        </p:nvPicPr>
        <p:blipFill>
          <a:blip r:embed="rId18"/>
          <a:srcRect r="3515" b="20997"/>
          <a:stretch>
            <a:fillRect/>
          </a:stretch>
        </p:blipFill>
        <p:spPr>
          <a:xfrm>
            <a:off x="11038205" y="32685990"/>
            <a:ext cx="9150985" cy="3799840"/>
          </a:xfrm>
          <a:prstGeom prst="rect">
            <a:avLst/>
          </a:prstGeom>
        </p:spPr>
      </p:pic>
      <p:pic>
        <p:nvPicPr>
          <p:cNvPr id="53" name="图片 52" descr="截图202510082253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38205" y="36485830"/>
            <a:ext cx="9559290" cy="5212715"/>
          </a:xfrm>
          <a:prstGeom prst="rect">
            <a:avLst/>
          </a:prstGeom>
        </p:spPr>
      </p:pic>
      <p:pic>
        <p:nvPicPr>
          <p:cNvPr id="54" name="图片 53" descr="截图2025100822574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279350" y="31326455"/>
            <a:ext cx="3422015" cy="237490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1081365" y="31204535"/>
            <a:ext cx="423037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70C0"/>
                </a:solidFill>
                <a:latin typeface="Cambria" panose="02040503050406030204" charset="0"/>
                <a:cs typeface="Cambria" panose="02040503050406030204" charset="0"/>
              </a:rPr>
              <a:t>Distribution of flawed explanations in contamination (inner) and contamination-free (outer) setting.</a:t>
            </a:r>
            <a:endParaRPr lang="en-US" altLang="zh-CN" sz="3200">
              <a:solidFill>
                <a:srgbClr val="0070C0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1235690" y="31311215"/>
            <a:ext cx="9255760" cy="583565"/>
          </a:xfrm>
          <a:prstGeom prst="rect">
            <a:avLst/>
          </a:prstGeom>
          <a:noFill/>
          <a:ln w="19050" cmpd="sng">
            <a:solidFill>
              <a:schemeClr val="bg1"/>
            </a:solidFill>
            <a:prstDash val="sysDash"/>
          </a:ln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70C0"/>
                </a:solidFill>
                <a:latin typeface="Cambria" panose="02040503050406030204" charset="0"/>
                <a:cs typeface="Cambria" panose="02040503050406030204" charset="0"/>
              </a:rPr>
              <a:t>Distributions of flawed LLM-generated explanations </a:t>
            </a:r>
            <a:endParaRPr lang="en-US" altLang="zh-CN" sz="3200">
              <a:solidFill>
                <a:srgbClr val="0070C0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60" name="图片 59" descr="截图2025100823031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671790" y="37002720"/>
            <a:ext cx="8087995" cy="4417060"/>
          </a:xfrm>
          <a:prstGeom prst="rect">
            <a:avLst/>
          </a:prstGeom>
        </p:spPr>
      </p:pic>
    </p:spTree>
    <p:custDataLst>
      <p:tags r:id="rId2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6.xml><?xml version="1.0" encoding="utf-8"?>
<p:tagLst xmlns:p="http://schemas.openxmlformats.org/presentationml/2006/main">
  <p:tag name="COMMONDATA" val="eyJoZGlkIjoiMzUzODczNGU4MThmZGEyNTY0NGRiNDc1YjYwY2MzMjI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1735</Words>
  <Application>WPS 演示</Application>
  <PresentationFormat>自定义</PresentationFormat>
  <Paragraphs>46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微软雅黑</vt:lpstr>
      <vt:lpstr>Cambria</vt:lpstr>
      <vt:lpstr>Cambria Math</vt:lpstr>
      <vt:lpstr>Calibri</vt:lpstr>
      <vt:lpstr>Arial Unicode MS</vt:lpstr>
      <vt:lpstr>等线 Light</vt:lpstr>
      <vt:lpstr>Calibri Light</vt:lpstr>
      <vt:lpstr>等线</vt:lpstr>
      <vt:lpstr>NimbusRomNo9L-Regu</vt:lpstr>
      <vt:lpstr>Segoe Print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WPS_1645662898</cp:lastModifiedBy>
  <cp:revision>306</cp:revision>
  <dcterms:created xsi:type="dcterms:W3CDTF">2019-06-19T02:08:00Z</dcterms:created>
  <dcterms:modified xsi:type="dcterms:W3CDTF">2025-10-08T15:19:29Z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876D80ABD2614CAF991A4D4BC5BEBED2_11</vt:lpwstr>
  </property>
</Properties>
</file>